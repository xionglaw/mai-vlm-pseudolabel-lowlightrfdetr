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3.jpg" ContentType="image/jpg"/>
  <Override PartName="/ppt/notesSlides/notesSlide8.xml" ContentType="application/vnd.openxmlformats-officedocument.presentationml.notesSlide+xml"/>
  <Override PartName="/ppt/notesSlides/notesSlide9.xml" ContentType="application/vnd.openxmlformats-officedocument.presentationml.notesSlide+xml"/>
  <Override PartName="/ppt/media/image4.jpg" ContentType="image/jpg"/>
  <Override PartName="/ppt/notesSlides/notesSlide10.xml" ContentType="application/vnd.openxmlformats-officedocument.presentationml.notesSlide+xml"/>
  <Override PartName="/ppt/notesSlides/notesSlide11.xml" ContentType="application/vnd.openxmlformats-officedocument.presentationml.notesSlide+xml"/>
  <Override PartName="/ppt/media/image5.jpg" ContentType="image/jpg"/>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media/image9.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70" r:id="rId2"/>
    <p:sldId id="257" r:id="rId3"/>
    <p:sldId id="258" r:id="rId4"/>
    <p:sldId id="259" r:id="rId5"/>
    <p:sldId id="271" r:id="rId6"/>
    <p:sldId id="272" r:id="rId7"/>
    <p:sldId id="261" r:id="rId8"/>
    <p:sldId id="273" r:id="rId9"/>
    <p:sldId id="262" r:id="rId10"/>
    <p:sldId id="274" r:id="rId11"/>
    <p:sldId id="264" r:id="rId12"/>
    <p:sldId id="275" r:id="rId13"/>
    <p:sldId id="265" r:id="rId14"/>
    <p:sldId id="266" r:id="rId15"/>
    <p:sldId id="267" r:id="rId16"/>
    <p:sldId id="268" r:id="rId17"/>
    <p:sldId id="269" r:id="rId18"/>
    <p:sldId id="276" r:id="rId19"/>
    <p:sldId id="260"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6472"/>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1139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 by 0:55] Three beats: low light degrades features, existing enhancement fixes are coupled to a backbone, and annotation is the cost that actually blocks deployment.
The three objectives map onto the Preliminary phase, Stages 1-2, and Stage 3.
Land on the callout — every later slide answers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 by 1:40] Walk the figure left to right.
Stress the word decoupled: the VLM cost is paid once, offline. That separates this from enhance-then-detect pipelines where the enhancer is welded to the backbone.
The student is RF-DETR-Small, chosen for its DINOv2 backbone and NMS-free head.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 by 2:20] This table is the spine of the results chapter — every later number is one of these rows.
A and B differ only in the images; B and C differ only in the labels. That is the whole design.
Introduce the two metrics here so they need no explanation later: detection versus localisation.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E1E7C-AEB6-5558-B496-4E3FA0560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867C1-9080-626D-CF09-F5E21D7B4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1B1371-60BD-917A-FA44-13E64617384C}"/>
              </a:ext>
            </a:extLst>
          </p:cNvPr>
          <p:cNvSpPr>
            <a:spLocks noGrp="1"/>
          </p:cNvSpPr>
          <p:nvPr>
            <p:ph type="body" idx="1"/>
          </p:nvPr>
        </p:nvSpPr>
        <p:spPr/>
        <p:txBody>
          <a:bodyPr/>
          <a:lstStyle/>
          <a:p>
            <a:r>
              <a:rPr lang="en-US" dirty="0"/>
              <a:t>[45 s · by 3:05] Figure first: YOLO-World's correct boxes pile up at high confidence, OWLv2's do not.
Then the table shows why that matters. OWLv2 wins on precision and is still unusable — 265 boxes against 1,996 ground-truth boxes, with five classes at zero F1.
Say it out loud: precision is not a selection criterion on its own. Coverage decides it.</a:t>
            </a:r>
          </a:p>
        </p:txBody>
      </p:sp>
      <p:sp>
        <p:nvSpPr>
          <p:cNvPr id="4" name="Slide Number Placeholder 3">
            <a:extLst>
              <a:ext uri="{FF2B5EF4-FFF2-40B4-BE49-F238E27FC236}">
                <a16:creationId xmlns:a16="http://schemas.microsoft.com/office/drawing/2014/main" id="{2EF86D37-B2A9-A22B-62AE-2DA6019E773A}"/>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639379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C4B80-D6BC-58DF-5814-77D3AF0BDC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63E19A-2BDA-76A1-05D4-1D2C37E323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8A3A0A-0480-7293-CD06-A17CEAF568A6}"/>
              </a:ext>
            </a:extLst>
          </p:cNvPr>
          <p:cNvSpPr>
            <a:spLocks noGrp="1"/>
          </p:cNvSpPr>
          <p:nvPr>
            <p:ph type="body" idx="1"/>
          </p:nvPr>
        </p:nvSpPr>
        <p:spPr/>
        <p:txBody>
          <a:bodyPr/>
          <a:lstStyle/>
          <a:p>
            <a:r>
              <a:rPr lang="en-US" dirty="0"/>
              <a:t>[40 s · by 3:45] The point is that the operating point was re-derived, not assumed.
0.60 came from a 600-image sample; on the full split 0.55 maximises F1. Rather than choose, both were trained — that is what C@0.55 and C@0.60 are.
Honest number to mention: 13,366 pseudo-label boxes against 19,105 human boxes, so pseudo-labelling recovers only 70% of the supervision, and 12.8% of training images end up with no label at all.</a:t>
            </a:r>
          </a:p>
        </p:txBody>
      </p:sp>
      <p:sp>
        <p:nvSpPr>
          <p:cNvPr id="4" name="Slide Number Placeholder 3">
            <a:extLst>
              <a:ext uri="{FF2B5EF4-FFF2-40B4-BE49-F238E27FC236}">
                <a16:creationId xmlns:a16="http://schemas.microsoft.com/office/drawing/2014/main" id="{AB4AA8CD-643F-FCAE-D0EB-284D8E6FF59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26910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 by 3:45] The point is that the operating point was re-derived, not assumed.
0.60 came from a 600-image sample; on the full split 0.55 maximises F1. Rather than choose, both were trained — that is what C@0.55 and C@0.60 are.
Honest number to mention: 13,366 pseudo-label boxes against 19,105 human boxes, so pseudo-labelling recovers only 70% of the supervision, and 12.8% of training images end up with no label at all.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CEAFF-6144-05DA-26AC-15BF8F5323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1F4ABB-3F08-3F88-675C-8B895FA14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A0D040-0DC1-3117-ACCC-617F94E48E93}"/>
              </a:ext>
            </a:extLst>
          </p:cNvPr>
          <p:cNvSpPr>
            <a:spLocks noGrp="1"/>
          </p:cNvSpPr>
          <p:nvPr>
            <p:ph type="body" idx="1"/>
          </p:nvPr>
        </p:nvSpPr>
        <p:spPr/>
        <p:txBody>
          <a:bodyPr/>
          <a:lstStyle/>
          <a:p>
            <a:r>
              <a:rPr lang="en-US" dirty="0"/>
              <a:t>[55 s · by 4:40] The first substantive result — do not rush it.
Finding one: enhancement is neutral-to-negative. B sits 0.010 and 0.013 below A, and that holds for the rest of the study.
Finding two, the more interesting one: the pseudo-label penalty is not uniform. 0.14 at the loose metric, 0.21 at the strict one. That asymmetry is the localisation story, which slide 10 picks up with box geometry.
C@0.55 marginally beats C@0.60, so the larger, noisier label set won — coverage over purity.</a:t>
            </a:r>
          </a:p>
        </p:txBody>
      </p:sp>
      <p:sp>
        <p:nvSpPr>
          <p:cNvPr id="4" name="Slide Number Placeholder 3">
            <a:extLst>
              <a:ext uri="{FF2B5EF4-FFF2-40B4-BE49-F238E27FC236}">
                <a16:creationId xmlns:a16="http://schemas.microsoft.com/office/drawing/2014/main" id="{5A6A251A-E509-E764-CC32-C5237F8523E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1764287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 by 4:40] The first substantive result — do not rush it.
Finding one: enhancement is neutral-to-negative. B sits 0.010 and 0.013 below A, and that holds for the rest of the study.
Finding two, the more interesting one: the pseudo-label penalty is not uniform. 0.14 at the loose metric, 0.21 at the strict one. That asymmetry is the localisation story, which slide 10 picks up with box geometry.
C@0.55 marginally beats C@0.60, so the larger, noisier label set won — coverage over purity.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4FA45-C570-FFBE-B0EB-81782A866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0901C-0485-15E7-5E4B-B0FD728C15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B5E50-AB22-4A14-05D2-B0A853E70D1C}"/>
              </a:ext>
            </a:extLst>
          </p:cNvPr>
          <p:cNvSpPr>
            <a:spLocks noGrp="1"/>
          </p:cNvSpPr>
          <p:nvPr>
            <p:ph type="body" idx="1"/>
          </p:nvPr>
        </p:nvSpPr>
        <p:spPr/>
        <p:txBody>
          <a:bodyPr/>
          <a:lstStyle/>
          <a:p>
            <a:r>
              <a:rPr lang="en-US" dirty="0"/>
              <a:t>[55 s · by 5:35] The practical result of the whole project.
Ten percent of the images recovers a third of the detection gap; twenty-five percent recovers over half. That is a favourable exchange rate for anyone paying annotators.
Explain why it beats the budget: human images are not label-equivalent to pseudo-labelled ones. They carry boxes the teacher missed entirely, so a quarter of the images supplies nearly a third of the boxes.
Figure 4.6: mAP@0.5 rises steeply then flattens, while mAP@[.5:.95] is close to linear — a little human data fixes detection fast, but localisation improves only in proportion to what is added.</a:t>
            </a:r>
          </a:p>
        </p:txBody>
      </p:sp>
      <p:sp>
        <p:nvSpPr>
          <p:cNvPr id="4" name="Slide Number Placeholder 3">
            <a:extLst>
              <a:ext uri="{FF2B5EF4-FFF2-40B4-BE49-F238E27FC236}">
                <a16:creationId xmlns:a16="http://schemas.microsoft.com/office/drawing/2014/main" id="{4335EFAB-75DA-EE88-DA25-4DB84DC7DCD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545480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 by 6:25] The slide that keeps the rest honest.
RF-DETR is already strong out of the box — 0.732 mAP@0.5 having never seen an ExDark image. Any claim about pseudo-labelling has to be measured against that, not against zero.
Against that floor, pure pseudo-labelling buys very little. The hybrids are where the method earns its place.
This is the honest framing of the contribution: the adaptation gain is real but modest, because the backbone was already heavily pretrained.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4E93E-3208-3B2F-6703-49EC15801D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03F70-DF42-76B7-BB23-60DB02E04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3CEB1-A60C-FD8A-FF38-EEC30F89C659}"/>
              </a:ext>
            </a:extLst>
          </p:cNvPr>
          <p:cNvSpPr>
            <a:spLocks noGrp="1"/>
          </p:cNvSpPr>
          <p:nvPr>
            <p:ph type="body" idx="1"/>
          </p:nvPr>
        </p:nvSpPr>
        <p:spPr/>
        <p:txBody>
          <a:bodyPr/>
          <a:lstStyle/>
          <a:p>
            <a:r>
              <a:rPr lang="en-US" dirty="0"/>
              <a:t>[50 s · by 6:25] The slide that keeps the rest honest.
RF-DETR is already strong out of the box — 0.732 mAP@0.5 having never seen an ExDark image. Any claim about pseudo-labelling has to be measured against that, not against zero.
Against that floor, pure pseudo-labelling buys very little. The hybrids are where the method earns its place.
This is the honest framing of the contribution: the adaptation gain is real but modest, because the backbone was already heavily pretrained.</a:t>
            </a:r>
          </a:p>
        </p:txBody>
      </p:sp>
      <p:sp>
        <p:nvSpPr>
          <p:cNvPr id="4" name="Slide Number Placeholder 3">
            <a:extLst>
              <a:ext uri="{FF2B5EF4-FFF2-40B4-BE49-F238E27FC236}">
                <a16:creationId xmlns:a16="http://schemas.microsoft.com/office/drawing/2014/main" id="{82A7ACFB-EE2C-EDEF-28E9-1FF8D79D94F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643167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 by 7:15] This closes the loop opened on slide 7 — why the strict metric suffers more.
Read the tighter column down: 38.4, then 32.7, then 5.9. The teacher loosens the student's boxes during distillation, and human labels finish the job. The median area ratio moves the same way, 1.192 to 1.158 to 0.994.
Be careful with the callout claim — it is a genuine confound, but it is not quantified. Note that the limitation on the final slide addresses exactly this.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 by 8:00] Anticipate the obvious objection — maybe Zero-DCE was simply a bad choice.
The probe answers it. Three methods, three seeds each, and all twelve runs land below raw. The between-method spread, 0.5631 to 0.5677, is smaller than the 0.0050 seed spread within the raw condition alone. That is the strongest form of this claim.
Practical consequence: the enhancement stage can be dropped from deployment with no measured loss.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 by 8:50] Lead with accuracy, then give the cost yourself — more persuasive than letting the examiner find it.
The strongest single line: C@0.55 uses zero human annotation and still matches DeC-YOLO on the strict metric. A exceeds the best published entry by 0.062 at mAP@0.5 and 0.183 at mAP@[.5:.95].
On efficiency be direct. The transformer is three to eleven times heavier than the YOLO comparators. At 77.4 FPS it is real-time, but it is not an edge-deployment model — future work addresses that.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 by 9:30] Three claims, one per block, roughly thirteen seconds each.
One: the pseudo-label penalty is mostly a localisation penalty, and part of it is annotation convention rather than model error.
Two: the exchange rate on human annotation is favourable, and the reason is mechanical — human images carry boxes the teacher never produced.
Three: the enhancement null is robust, not an artefact of one enhancer, and it lets a whole preprocessing stage be deleted.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 by 10:00] Close on the three established results, then name the limitation first — it reads as confidence rather than a gap the examiner found.
Future work is framed as testing the study's own weakest assumption: the adaptation gain was small partly because the student was already strong. A smaller student tests that and fixes deployment cost at once.
Finish on the headline: a quarter of the annotation budget recovers roughly a third of the gap, and the enhancement stage can be deleted outright.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 by 3:05] Figure first: YOLO-World's correct boxes pile up at high confidence, OWLv2's do not.
Then the table shows why that matters. OWLv2 wins on precision and is still unusable — 265 boxes against 1,996 ground-truth boxes, with five classes at zero F1.
Say it out loud: precision is not a selection criterion on its own. Coverage decides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mailto:mAP@[.5:.95"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pic>
        <p:nvPicPr>
          <p:cNvPr id="8" name="Picture 7" descr="Strijp-S district Eindhoven at night">
            <a:extLst>
              <a:ext uri="{FF2B5EF4-FFF2-40B4-BE49-F238E27FC236}">
                <a16:creationId xmlns:a16="http://schemas.microsoft.com/office/drawing/2014/main" id="{E079266A-1FBC-89CB-5E31-770DB36EFBA5}"/>
              </a:ext>
            </a:extLst>
          </p:cNvPr>
          <p:cNvPicPr>
            <a:picLocks noChangeAspect="1"/>
          </p:cNvPicPr>
          <p:nvPr/>
        </p:nvPicPr>
        <p:blipFill>
          <a:blip r:embed="rId3">
            <a:alphaModFix amt="20000"/>
          </a:blip>
          <a:srcRect t="18364"/>
          <a:stretch>
            <a:fillRect/>
          </a:stretch>
        </p:blipFill>
        <p:spPr>
          <a:xfrm>
            <a:off x="0" y="0"/>
            <a:ext cx="12192000" cy="6858000"/>
          </a:xfrm>
          <a:prstGeom prst="rect">
            <a:avLst/>
          </a:prstGeom>
        </p:spPr>
      </p:pic>
      <p:sp>
        <p:nvSpPr>
          <p:cNvPr id="2" name="Text 0"/>
          <p:cNvSpPr/>
          <p:nvPr/>
        </p:nvSpPr>
        <p:spPr>
          <a:xfrm>
            <a:off x="731520" y="2103120"/>
            <a:ext cx="10725912" cy="1463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ROBUST LOW-LIGHT OBJECT DETECTION</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1188720" y="3429000"/>
            <a:ext cx="9811512" cy="8229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Combining Offline Illumination Compensation, Vision-Language Knowledge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Distillation, and Real-Time Detection Transformers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997196" y="4617720"/>
            <a:ext cx="2194560" cy="0"/>
          </a:xfrm>
          <a:prstGeom prst="line">
            <a:avLst/>
          </a:prstGeom>
          <a:noFill/>
          <a:ln w="25400">
            <a:solidFill>
              <a:srgbClr val="D0421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1188720" y="4846320"/>
            <a:ext cx="981151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Law Zhi Xiong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5349240"/>
            <a:ext cx="9811512"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Faculty of Computer Science &amp; Information Technology  |  Universiti Malaya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MAI Research Project·  2026</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Problem Statement and Research Objectives</a:t>
            </a:r>
            <a:endParaRPr lang="en-US" sz="3000" dirty="0"/>
          </a:p>
        </p:txBody>
      </p:sp>
      <p:sp>
        <p:nvSpPr>
          <p:cNvPr id="3" name="Text 1"/>
          <p:cNvSpPr/>
          <p:nvPr/>
        </p:nvSpPr>
        <p:spPr>
          <a:xfrm>
            <a:off x="548640" y="1371600"/>
            <a:ext cx="5212080" cy="292608"/>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Problem Statement: Why low light is hard</a:t>
            </a:r>
            <a:endParaRPr lang="en-US" sz="1800" dirty="0"/>
          </a:p>
        </p:txBody>
      </p:sp>
      <p:sp>
        <p:nvSpPr>
          <p:cNvPr id="4" name="Text 2"/>
          <p:cNvSpPr/>
          <p:nvPr/>
        </p:nvSpPr>
        <p:spPr>
          <a:xfrm>
            <a:off x="548640" y="1810512"/>
            <a:ext cx="5212080" cy="2651760"/>
          </a:xfrm>
          <a:prstGeom prst="rect">
            <a:avLst/>
          </a:prstGeom>
          <a:noFill/>
          <a:ln/>
        </p:spPr>
        <p:txBody>
          <a:bodyPr wrap="square" lIns="0" tIns="0" rIns="0" bIns="0" rtlCol="0" anchor="t"/>
          <a:lstStyle/>
          <a:p>
            <a:pPr marL="342900" indent="-342900">
              <a:spcAft>
                <a:spcPts val="1800"/>
              </a:spcAft>
              <a:buSzPct val="100000"/>
              <a:buChar char="•"/>
            </a:pPr>
            <a:r>
              <a:rPr lang="en-US" sz="1500" dirty="0">
                <a:solidFill>
                  <a:srgbClr val="1F2430"/>
                </a:solidFill>
                <a:latin typeface="Calibri" pitchFamily="34" charset="0"/>
                <a:ea typeface="Calibri" pitchFamily="34" charset="-122"/>
                <a:cs typeface="Calibri" pitchFamily="34" charset="-120"/>
              </a:rPr>
              <a:t>Low contrast and sensor noise degrade the features detectors rely on</a:t>
            </a:r>
            <a:endParaRPr lang="en-US" sz="1500" dirty="0"/>
          </a:p>
          <a:p>
            <a:pPr marL="342900" indent="-342900">
              <a:spcAft>
                <a:spcPts val="1800"/>
              </a:spcAft>
              <a:buSzPct val="100000"/>
              <a:buChar char="•"/>
            </a:pPr>
            <a:r>
              <a:rPr lang="en-US" sz="1500" dirty="0">
                <a:solidFill>
                  <a:srgbClr val="1F2430"/>
                </a:solidFill>
                <a:latin typeface="Calibri" pitchFamily="34" charset="0"/>
                <a:ea typeface="Calibri" pitchFamily="34" charset="-122"/>
                <a:cs typeface="Calibri" pitchFamily="34" charset="-120"/>
              </a:rPr>
              <a:t>Enhancement modules are welded to one backbone, so pipelines are brittle</a:t>
            </a:r>
            <a:endParaRPr lang="en-US" sz="1500" dirty="0"/>
          </a:p>
          <a:p>
            <a:pPr marL="342900" indent="-342900">
              <a:spcAft>
                <a:spcPts val="1800"/>
              </a:spcAft>
              <a:buSzPct val="100000"/>
              <a:buChar char="•"/>
            </a:pPr>
            <a:r>
              <a:rPr lang="en-US" sz="1500" dirty="0">
                <a:solidFill>
                  <a:srgbClr val="1F2430"/>
                </a:solidFill>
                <a:latin typeface="Calibri" pitchFamily="34" charset="0"/>
                <a:ea typeface="Calibri" pitchFamily="34" charset="-122"/>
                <a:cs typeface="Calibri" pitchFamily="34" charset="-120"/>
              </a:rPr>
              <a:t>Human annotation is the real bottleneck for any new domain</a:t>
            </a:r>
            <a:endParaRPr lang="en-US" sz="1500" dirty="0"/>
          </a:p>
        </p:txBody>
      </p:sp>
      <p:sp>
        <p:nvSpPr>
          <p:cNvPr id="5" name="Text 3"/>
          <p:cNvSpPr/>
          <p:nvPr/>
        </p:nvSpPr>
        <p:spPr>
          <a:xfrm>
            <a:off x="6355080" y="1371600"/>
            <a:ext cx="5285232" cy="292608"/>
          </a:xfrm>
          <a:prstGeom prst="rect">
            <a:avLst/>
          </a:prstGeom>
          <a:noFill/>
          <a:ln/>
        </p:spPr>
        <p:txBody>
          <a:bodyPr wrap="square" lIns="0" tIns="0" rIns="0" bIns="0"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Research objectives</a:t>
            </a:r>
            <a:endParaRPr lang="en-US" sz="1800" dirty="0"/>
          </a:p>
        </p:txBody>
      </p:sp>
      <p:sp>
        <p:nvSpPr>
          <p:cNvPr id="6" name="Shape 4"/>
          <p:cNvSpPr/>
          <p:nvPr/>
        </p:nvSpPr>
        <p:spPr>
          <a:xfrm>
            <a:off x="6355080" y="1847088"/>
            <a:ext cx="420624" cy="420624"/>
          </a:xfrm>
          <a:prstGeom prst="ellipse">
            <a:avLst/>
          </a:prstGeom>
          <a:solidFill>
            <a:srgbClr val="1E2761"/>
          </a:solidFill>
          <a:ln w="12700">
            <a:solidFill>
              <a:srgbClr val="1E2761"/>
            </a:solidFill>
            <a:prstDash val="solid"/>
          </a:ln>
        </p:spPr>
        <p:txBody>
          <a:bodyPr/>
          <a:lstStyle/>
          <a:p>
            <a:endParaRPr lang="en-MY"/>
          </a:p>
        </p:txBody>
      </p:sp>
      <p:sp>
        <p:nvSpPr>
          <p:cNvPr id="7" name="Text 5"/>
          <p:cNvSpPr/>
          <p:nvPr/>
        </p:nvSpPr>
        <p:spPr>
          <a:xfrm>
            <a:off x="6355080" y="18470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6949440" y="1828800"/>
            <a:ext cx="4690872" cy="475488"/>
          </a:xfrm>
          <a:prstGeom prst="rect">
            <a:avLst/>
          </a:prstGeom>
          <a:noFill/>
          <a:ln/>
        </p:spPr>
        <p:txBody>
          <a:bodyPr wrap="square" lIns="0" tIns="0" rIns="0" bIns="0" rtlCol="0" anchor="ctr"/>
          <a:lstStyle/>
          <a:p>
            <a:r>
              <a:rPr lang="en-US" sz="1400" dirty="0">
                <a:solidFill>
                  <a:srgbClr val="2A2A2A"/>
                </a:solidFill>
                <a:latin typeface="Calibri" pitchFamily="34" charset="0"/>
                <a:ea typeface="Calibri" pitchFamily="34" charset="-122"/>
                <a:cs typeface="Calibri" pitchFamily="34" charset="-120"/>
              </a:rPr>
              <a:t>To empirically select a VLM annotation teacher from open-source models for low-light KD</a:t>
            </a:r>
            <a:endParaRPr lang="en-US" sz="1500" dirty="0"/>
          </a:p>
        </p:txBody>
      </p:sp>
      <p:sp>
        <p:nvSpPr>
          <p:cNvPr id="9" name="Shape 7"/>
          <p:cNvSpPr/>
          <p:nvPr/>
        </p:nvSpPr>
        <p:spPr>
          <a:xfrm>
            <a:off x="6355080" y="2807208"/>
            <a:ext cx="420624" cy="420624"/>
          </a:xfrm>
          <a:prstGeom prst="ellipse">
            <a:avLst/>
          </a:prstGeom>
          <a:solidFill>
            <a:srgbClr val="1E2761"/>
          </a:solidFill>
          <a:ln w="12700">
            <a:solidFill>
              <a:srgbClr val="1E2761"/>
            </a:solidFill>
            <a:prstDash val="solid"/>
          </a:ln>
        </p:spPr>
        <p:txBody>
          <a:bodyPr/>
          <a:lstStyle/>
          <a:p>
            <a:endParaRPr lang="en-MY"/>
          </a:p>
        </p:txBody>
      </p:sp>
      <p:sp>
        <p:nvSpPr>
          <p:cNvPr id="10" name="Text 8"/>
          <p:cNvSpPr/>
          <p:nvPr/>
        </p:nvSpPr>
        <p:spPr>
          <a:xfrm>
            <a:off x="6355080" y="280720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6949440" y="2788920"/>
            <a:ext cx="4690872" cy="475488"/>
          </a:xfrm>
          <a:prstGeom prst="rect">
            <a:avLst/>
          </a:prstGeom>
          <a:noFill/>
          <a:ln/>
        </p:spPr>
        <p:txBody>
          <a:bodyPr wrap="square" lIns="0" tIns="0" rIns="0" bIns="0" rtlCol="0" anchor="ctr"/>
          <a:lstStyle/>
          <a:p>
            <a:r>
              <a:rPr lang="en-US" sz="1400" dirty="0">
                <a:solidFill>
                  <a:srgbClr val="2A2A2A"/>
                </a:solidFill>
                <a:latin typeface="Calibri" pitchFamily="34" charset="0"/>
                <a:ea typeface="Calibri" pitchFamily="34" charset="-122"/>
                <a:cs typeface="Calibri" pitchFamily="34" charset="-120"/>
              </a:rPr>
              <a:t>To evaluate the individual and combined contributions of spatial enhancement and knowledge distillation using RF-DETR</a:t>
            </a:r>
            <a:endParaRPr lang="en-US" sz="1500" dirty="0"/>
          </a:p>
        </p:txBody>
      </p:sp>
      <p:sp>
        <p:nvSpPr>
          <p:cNvPr id="12" name="Shape 10"/>
          <p:cNvSpPr/>
          <p:nvPr/>
        </p:nvSpPr>
        <p:spPr>
          <a:xfrm>
            <a:off x="6355080" y="3767328"/>
            <a:ext cx="420624" cy="420624"/>
          </a:xfrm>
          <a:prstGeom prst="ellipse">
            <a:avLst/>
          </a:prstGeom>
          <a:solidFill>
            <a:srgbClr val="1E2761"/>
          </a:solidFill>
          <a:ln w="12700">
            <a:solidFill>
              <a:srgbClr val="1E2761"/>
            </a:solidFill>
            <a:prstDash val="solid"/>
          </a:ln>
        </p:spPr>
        <p:txBody>
          <a:bodyPr/>
          <a:lstStyle/>
          <a:p>
            <a:endParaRPr lang="en-MY"/>
          </a:p>
        </p:txBody>
      </p:sp>
      <p:sp>
        <p:nvSpPr>
          <p:cNvPr id="13" name="Text 11"/>
          <p:cNvSpPr/>
          <p:nvPr/>
        </p:nvSpPr>
        <p:spPr>
          <a:xfrm>
            <a:off x="6355080" y="376732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6949440" y="3749040"/>
            <a:ext cx="4690872" cy="475488"/>
          </a:xfrm>
          <a:prstGeom prst="rect">
            <a:avLst/>
          </a:prstGeom>
          <a:noFill/>
          <a:ln/>
        </p:spPr>
        <p:txBody>
          <a:bodyPr wrap="square" lIns="0" tIns="0" rIns="0" bIns="0" rtlCol="0" anchor="ctr"/>
          <a:lstStyle/>
          <a:p>
            <a:r>
              <a:rPr lang="en-US" sz="1400" dirty="0">
                <a:solidFill>
                  <a:srgbClr val="2A2A2A"/>
                </a:solidFill>
                <a:latin typeface="Calibri" pitchFamily="34" charset="0"/>
                <a:ea typeface="Calibri" pitchFamily="34" charset="-122"/>
                <a:cs typeface="Calibri" pitchFamily="34" charset="-120"/>
              </a:rPr>
              <a:t>To benchmark the resulting RF-DETR against published results on the evaluated </a:t>
            </a:r>
            <a:r>
              <a:rPr lang="en-US" sz="1400" dirty="0" err="1">
                <a:solidFill>
                  <a:srgbClr val="2A2A2A"/>
                </a:solidFill>
                <a:latin typeface="Calibri" pitchFamily="34" charset="0"/>
                <a:ea typeface="Calibri" pitchFamily="34" charset="-122"/>
                <a:cs typeface="Calibri" pitchFamily="34" charset="-120"/>
              </a:rPr>
              <a:t>ExDark</a:t>
            </a:r>
            <a:r>
              <a:rPr lang="en-US" sz="1400" dirty="0">
                <a:solidFill>
                  <a:srgbClr val="2A2A2A"/>
                </a:solidFill>
                <a:latin typeface="Calibri" pitchFamily="34" charset="0"/>
                <a:ea typeface="Calibri" pitchFamily="34" charset="-122"/>
                <a:cs typeface="Calibri" pitchFamily="34" charset="-120"/>
              </a:rPr>
              <a:t> dataset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Methodology: Decoupled three-stage pipeline</a:t>
            </a:r>
            <a:endParaRPr lang="en-US" sz="3000" dirty="0"/>
          </a:p>
        </p:txBody>
      </p:sp>
      <p:sp>
        <p:nvSpPr>
          <p:cNvPr id="3" name="Text 1"/>
          <p:cNvSpPr/>
          <p:nvPr/>
        </p:nvSpPr>
        <p:spPr>
          <a:xfrm>
            <a:off x="548640" y="877824"/>
            <a:ext cx="11094415" cy="310896"/>
          </a:xfrm>
          <a:prstGeom prst="rect">
            <a:avLst/>
          </a:prstGeom>
          <a:noFill/>
          <a:ln/>
        </p:spPr>
        <p:txBody>
          <a:bodyPr wrap="square" lIns="0" tIns="0" rIns="0" bIns="0" rtlCol="0" anchor="ctr"/>
          <a:lstStyle/>
          <a:p>
            <a:pPr marL="0" indent="0" algn="l">
              <a:buNone/>
            </a:pPr>
            <a:r>
              <a:rPr lang="en-US" sz="1400" dirty="0">
                <a:solidFill>
                  <a:srgbClr val="5C6472"/>
                </a:solidFill>
                <a:latin typeface="Calibri" pitchFamily="34" charset="0"/>
                <a:ea typeface="Calibri" pitchFamily="34" charset="-122"/>
                <a:cs typeface="Calibri" pitchFamily="34" charset="-120"/>
              </a:rPr>
              <a:t>Enhancement, annotation and training vary independently, to assess contribution of each component</a:t>
            </a:r>
            <a:endParaRPr lang="en-US" sz="1400" dirty="0"/>
          </a:p>
        </p:txBody>
      </p:sp>
      <p:pic>
        <p:nvPicPr>
          <p:cNvPr id="4" name="Image 0" descr="C:\Users\xiong\AppData\Local\Temp\claude\C--Users-xiong-Desktop-UM-MAI-2025-FYP-Part-2-Final-Code\2e03b641-b962-436d-91ad-a469587e5a9f\scratchpad\media\image2.png"/>
          <p:cNvPicPr>
            <a:picLocks noChangeAspect="1"/>
          </p:cNvPicPr>
          <p:nvPr/>
        </p:nvPicPr>
        <p:blipFill>
          <a:blip r:embed="rId3"/>
          <a:stretch>
            <a:fillRect/>
          </a:stretch>
        </p:blipFill>
        <p:spPr>
          <a:xfrm>
            <a:off x="6245352" y="1481328"/>
            <a:ext cx="5394960" cy="4021244"/>
          </a:xfrm>
          <a:prstGeom prst="rect">
            <a:avLst/>
          </a:prstGeom>
        </p:spPr>
      </p:pic>
      <p:sp>
        <p:nvSpPr>
          <p:cNvPr id="6" name="Text 3"/>
          <p:cNvSpPr/>
          <p:nvPr/>
        </p:nvSpPr>
        <p:spPr>
          <a:xfrm>
            <a:off x="548640" y="1481328"/>
            <a:ext cx="5394960" cy="292608"/>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Stage 1</a:t>
            </a:r>
            <a:endParaRPr lang="en-US" sz="1700" dirty="0"/>
          </a:p>
        </p:txBody>
      </p:sp>
      <p:sp>
        <p:nvSpPr>
          <p:cNvPr id="7" name="Text 4"/>
          <p:cNvSpPr/>
          <p:nvPr/>
        </p:nvSpPr>
        <p:spPr>
          <a:xfrm>
            <a:off x="548640" y="1828800"/>
            <a:ext cx="5394960" cy="841248"/>
          </a:xfrm>
          <a:prstGeom prst="rect">
            <a:avLst/>
          </a:prstGeom>
          <a:noFill/>
          <a:ln/>
        </p:spPr>
        <p:txBody>
          <a:bodyPr wrap="square" lIns="0" tIns="0" rIns="0" bIns="0" rtlCol="0" anchor="t"/>
          <a:lstStyle/>
          <a:p>
            <a:pPr marL="0" indent="0">
              <a:buNone/>
            </a:pPr>
            <a:r>
              <a:rPr lang="en-US" sz="1400" dirty="0">
                <a:solidFill>
                  <a:srgbClr val="1F2430"/>
                </a:solidFill>
                <a:latin typeface="Calibri" pitchFamily="34" charset="0"/>
                <a:ea typeface="Calibri" pitchFamily="34" charset="-122"/>
                <a:cs typeface="Calibri" pitchFamily="34" charset="-120"/>
              </a:rPr>
              <a:t>Offline enhancement, then a VLM teacher annotates. </a:t>
            </a:r>
          </a:p>
          <a:p>
            <a:pPr marL="0" indent="0">
              <a:buNone/>
            </a:pPr>
            <a:endParaRPr lang="en-US" sz="1400" dirty="0">
              <a:solidFill>
                <a:srgbClr val="1F2430"/>
              </a:solidFill>
              <a:latin typeface="Calibri" pitchFamily="34" charset="0"/>
              <a:ea typeface="Calibri" pitchFamily="34" charset="-122"/>
              <a:cs typeface="Calibri" pitchFamily="34" charset="-120"/>
            </a:endParaRPr>
          </a:p>
          <a:p>
            <a:pPr marL="0" indent="0">
              <a:buNone/>
            </a:pPr>
            <a:r>
              <a:rPr lang="en-US" sz="1400" dirty="0">
                <a:solidFill>
                  <a:srgbClr val="1F2430"/>
                </a:solidFill>
                <a:latin typeface="Calibri" pitchFamily="34" charset="0"/>
                <a:ea typeface="Calibri" pitchFamily="34" charset="-122"/>
                <a:cs typeface="Calibri" pitchFamily="34" charset="-120"/>
              </a:rPr>
              <a:t>Boxes above a confidence threshold become pseudo-labels.</a:t>
            </a:r>
            <a:endParaRPr lang="en-US" sz="1400" dirty="0"/>
          </a:p>
        </p:txBody>
      </p:sp>
      <p:sp>
        <p:nvSpPr>
          <p:cNvPr id="8" name="Text 5"/>
          <p:cNvSpPr/>
          <p:nvPr/>
        </p:nvSpPr>
        <p:spPr>
          <a:xfrm>
            <a:off x="548640" y="2779776"/>
            <a:ext cx="5394960" cy="292608"/>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Stage 2</a:t>
            </a:r>
            <a:endParaRPr lang="en-US" sz="1700" dirty="0"/>
          </a:p>
        </p:txBody>
      </p:sp>
      <p:sp>
        <p:nvSpPr>
          <p:cNvPr id="9" name="Text 6"/>
          <p:cNvSpPr/>
          <p:nvPr/>
        </p:nvSpPr>
        <p:spPr>
          <a:xfrm>
            <a:off x="548640" y="3127248"/>
            <a:ext cx="5394960" cy="841248"/>
          </a:xfrm>
          <a:prstGeom prst="rect">
            <a:avLst/>
          </a:prstGeom>
          <a:noFill/>
          <a:ln/>
        </p:spPr>
        <p:txBody>
          <a:bodyPr wrap="square" lIns="0" tIns="0" rIns="0" bIns="0" rtlCol="0" anchor="t"/>
          <a:lstStyle/>
          <a:p>
            <a:pPr marL="0" indent="0">
              <a:buNone/>
            </a:pPr>
            <a:r>
              <a:rPr lang="en-US" sz="1400" dirty="0">
                <a:solidFill>
                  <a:srgbClr val="1F2430"/>
                </a:solidFill>
                <a:latin typeface="Calibri" pitchFamily="34" charset="0"/>
                <a:ea typeface="Calibri" pitchFamily="34" charset="-122"/>
                <a:cs typeface="Calibri" pitchFamily="34" charset="-120"/>
              </a:rPr>
              <a:t>RF-DETR-Small trains on pseudo-label set. </a:t>
            </a:r>
          </a:p>
          <a:p>
            <a:pPr marL="0" indent="0">
              <a:buNone/>
            </a:pPr>
            <a:endParaRPr lang="en-US" sz="1400" dirty="0">
              <a:solidFill>
                <a:srgbClr val="1F2430"/>
              </a:solidFill>
              <a:latin typeface="Calibri" pitchFamily="34" charset="0"/>
              <a:ea typeface="Calibri" pitchFamily="34" charset="-122"/>
              <a:cs typeface="Calibri" pitchFamily="34" charset="-120"/>
            </a:endParaRPr>
          </a:p>
          <a:p>
            <a:pPr marL="0" indent="0">
              <a:buNone/>
            </a:pPr>
            <a:r>
              <a:rPr lang="en-US" sz="1400" dirty="0">
                <a:solidFill>
                  <a:srgbClr val="1F2430"/>
                </a:solidFill>
                <a:latin typeface="Calibri" pitchFamily="34" charset="0"/>
                <a:ea typeface="Calibri" pitchFamily="34" charset="-122"/>
                <a:cs typeface="Calibri" pitchFamily="34" charset="-120"/>
              </a:rPr>
              <a:t>One-to-one Hungarian matching suits one-to-one pseudo-labels.</a:t>
            </a:r>
            <a:endParaRPr lang="en-US" sz="1400" dirty="0"/>
          </a:p>
        </p:txBody>
      </p:sp>
      <p:sp>
        <p:nvSpPr>
          <p:cNvPr id="10" name="Text 7"/>
          <p:cNvSpPr/>
          <p:nvPr/>
        </p:nvSpPr>
        <p:spPr>
          <a:xfrm>
            <a:off x="548640" y="4078224"/>
            <a:ext cx="5394960" cy="292608"/>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Stage 3</a:t>
            </a:r>
            <a:endParaRPr lang="en-US" sz="1700" dirty="0"/>
          </a:p>
        </p:txBody>
      </p:sp>
      <p:sp>
        <p:nvSpPr>
          <p:cNvPr id="11" name="Text 8"/>
          <p:cNvSpPr/>
          <p:nvPr/>
        </p:nvSpPr>
        <p:spPr>
          <a:xfrm>
            <a:off x="548640" y="4425696"/>
            <a:ext cx="5394960" cy="841248"/>
          </a:xfrm>
          <a:prstGeom prst="rect">
            <a:avLst/>
          </a:prstGeom>
          <a:noFill/>
          <a:ln/>
        </p:spPr>
        <p:txBody>
          <a:bodyPr wrap="square" lIns="0" tIns="0" rIns="0" bIns="0" rtlCol="0" anchor="t"/>
          <a:lstStyle/>
          <a:p>
            <a:pPr marL="0" indent="0">
              <a:buNone/>
            </a:pPr>
            <a:r>
              <a:rPr lang="en-US" sz="1400" dirty="0">
                <a:solidFill>
                  <a:srgbClr val="1F2430"/>
                </a:solidFill>
                <a:latin typeface="Calibri" pitchFamily="34" charset="0"/>
                <a:ea typeface="Calibri" pitchFamily="34" charset="-122"/>
                <a:cs typeface="Calibri" pitchFamily="34" charset="-120"/>
              </a:rPr>
              <a:t>Inference runs on the student alone. </a:t>
            </a:r>
          </a:p>
          <a:p>
            <a:pPr marL="0" indent="0">
              <a:buNone/>
            </a:pPr>
            <a:endParaRPr lang="en-US" sz="1400" dirty="0">
              <a:solidFill>
                <a:srgbClr val="1F2430"/>
              </a:solidFill>
              <a:latin typeface="Calibri" pitchFamily="34" charset="0"/>
              <a:ea typeface="Calibri" pitchFamily="34" charset="-122"/>
              <a:cs typeface="Calibri" pitchFamily="34" charset="-120"/>
            </a:endParaRPr>
          </a:p>
          <a:p>
            <a:pPr marL="0" indent="0">
              <a:buNone/>
            </a:pPr>
            <a:r>
              <a:rPr lang="en-US" sz="1400" dirty="0">
                <a:solidFill>
                  <a:srgbClr val="1F2430"/>
                </a:solidFill>
                <a:latin typeface="Calibri" pitchFamily="34" charset="0"/>
                <a:ea typeface="Calibri" pitchFamily="34" charset="-122"/>
                <a:cs typeface="Calibri" pitchFamily="34" charset="-120"/>
              </a:rPr>
              <a:t>Detection produces both bounding boxes and object labels.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Experimental design</a:t>
            </a:r>
            <a:endParaRPr lang="en-US" sz="3000" dirty="0"/>
          </a:p>
        </p:txBody>
      </p:sp>
      <p:sp>
        <p:nvSpPr>
          <p:cNvPr id="3" name="Text 1"/>
          <p:cNvSpPr/>
          <p:nvPr/>
        </p:nvSpPr>
        <p:spPr>
          <a:xfrm>
            <a:off x="548640" y="877824"/>
            <a:ext cx="11094415" cy="310896"/>
          </a:xfrm>
          <a:prstGeom prst="rect">
            <a:avLst/>
          </a:prstGeom>
          <a:noFill/>
          <a:ln/>
        </p:spPr>
        <p:txBody>
          <a:bodyPr wrap="square" lIns="0" tIns="0" rIns="0" bIns="0" rtlCol="0" anchor="ctr"/>
          <a:lstStyle/>
          <a:p>
            <a:pPr marL="0" indent="0" algn="l">
              <a:buNone/>
            </a:pPr>
            <a:r>
              <a:rPr lang="en-US" sz="1400" dirty="0">
                <a:solidFill>
                  <a:srgbClr val="5C6472"/>
                </a:solidFill>
                <a:latin typeface="Calibri" pitchFamily="34" charset="0"/>
                <a:ea typeface="Calibri" pitchFamily="34" charset="-122"/>
                <a:cs typeface="Calibri" pitchFamily="34" charset="-120"/>
              </a:rPr>
              <a:t>ExDark: 7,363 images, 12 classes, 80/10/10 stratified → 5,886 train / 729 val / 748 test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578703453"/>
              </p:ext>
            </p:extLst>
          </p:nvPr>
        </p:nvGraphicFramePr>
        <p:xfrm>
          <a:off x="548640" y="1572768"/>
          <a:ext cx="11094415" cy="3032760"/>
        </p:xfrm>
        <a:graphic>
          <a:graphicData uri="http://schemas.openxmlformats.org/drawingml/2006/table">
            <a:tbl>
              <a:tblPr/>
              <a:tblGrid>
                <a:gridCol w="2286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4053535">
                  <a:extLst>
                    <a:ext uri="{9D8B030D-6E8A-4147-A177-3AD203B41FA5}">
                      <a16:colId xmlns:a16="http://schemas.microsoft.com/office/drawing/2014/main" val="20003"/>
                    </a:ext>
                  </a:extLst>
                </a:gridCol>
              </a:tblGrid>
              <a:tr h="50292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Condition</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Images</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Labels</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What it isolates</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02920">
                <a:tc>
                  <a:txBody>
                    <a:bodyPr/>
                    <a:lstStyle/>
                    <a:p>
                      <a:pPr marL="0" indent="0" algn="l">
                        <a:buNone/>
                      </a:pPr>
                      <a:r>
                        <a:rPr lang="en-US" sz="1400" dirty="0">
                          <a:solidFill>
                            <a:srgbClr val="1F2430"/>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raw</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human</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Upper bound, no intervention baseline</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400" dirty="0">
                          <a:solidFill>
                            <a:srgbClr val="1F2430"/>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enhanced</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human</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Enhancement alone</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extLst>
                  <a:ext uri="{0D108BD9-81ED-4DB2-BD59-A6C34878D82A}">
                    <a16:rowId xmlns:a16="http://schemas.microsoft.com/office/drawing/2014/main" val="10002"/>
                  </a:ext>
                </a:extLst>
              </a:tr>
              <a:tr h="502920">
                <a:tc>
                  <a:txBody>
                    <a:bodyPr/>
                    <a:lstStyle/>
                    <a:p>
                      <a:pPr marL="0" indent="0" algn="l">
                        <a:buNone/>
                      </a:pPr>
                      <a:r>
                        <a:rPr lang="en-US" sz="1400" dirty="0">
                          <a:solidFill>
                            <a:srgbClr val="1F2430"/>
                          </a:solidFill>
                          <a:latin typeface="Calibri" pitchFamily="34" charset="0"/>
                          <a:ea typeface="Calibri" pitchFamily="34" charset="-122"/>
                          <a:cs typeface="Calibri" pitchFamily="34" charset="-120"/>
                        </a:rPr>
                        <a:t>C@0.55 / C@0.60</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enhanced</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pseudo</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Knowledge distillation alone</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400" dirty="0">
                          <a:solidFill>
                            <a:srgbClr val="1F2430"/>
                          </a:solidFill>
                          <a:latin typeface="Calibri" pitchFamily="34" charset="0"/>
                          <a:ea typeface="Calibri" pitchFamily="34" charset="-122"/>
                          <a:cs typeface="Calibri" pitchFamily="34" charset="-120"/>
                        </a:rPr>
                        <a:t>H10 / H25</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enhanced</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10% / 25% human + pseudo</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Performance improvement from human label additions</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extLst>
                  <a:ext uri="{0D108BD9-81ED-4DB2-BD59-A6C34878D82A}">
                    <a16:rowId xmlns:a16="http://schemas.microsoft.com/office/drawing/2014/main" val="10004"/>
                  </a:ext>
                </a:extLst>
              </a:tr>
              <a:tr h="502920">
                <a:tc>
                  <a:txBody>
                    <a:bodyPr/>
                    <a:lstStyle/>
                    <a:p>
                      <a:pPr marL="0" indent="0" algn="l">
                        <a:buNone/>
                      </a:pPr>
                      <a:r>
                        <a:rPr lang="en-US" sz="1400" dirty="0">
                          <a:solidFill>
                            <a:srgbClr val="1F2430"/>
                          </a:solidFill>
                          <a:latin typeface="Calibri" pitchFamily="34" charset="0"/>
                          <a:ea typeface="Calibri" pitchFamily="34" charset="-122"/>
                          <a:cs typeface="Calibri" pitchFamily="34" charset="-120"/>
                        </a:rPr>
                        <a:t>Zero-shot</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raw &amp; enhanced</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none (COCO-pretrained)</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430"/>
                          </a:solidFill>
                          <a:latin typeface="Calibri" pitchFamily="34" charset="0"/>
                          <a:ea typeface="Calibri" pitchFamily="34" charset="-122"/>
                          <a:cs typeface="Calibri" pitchFamily="34" charset="-120"/>
                        </a:rPr>
                        <a:t>Untrained baseline</a:t>
                      </a:r>
                      <a:endParaRPr lang="en-US" sz="14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Shape 2"/>
          <p:cNvSpPr/>
          <p:nvPr/>
        </p:nvSpPr>
        <p:spPr>
          <a:xfrm>
            <a:off x="548640" y="4846320"/>
            <a:ext cx="5440680" cy="1188720"/>
          </a:xfrm>
          <a:prstGeom prst="roundRect">
            <a:avLst>
              <a:gd name="adj" fmla="val 4615"/>
            </a:avLst>
          </a:prstGeom>
          <a:solidFill>
            <a:srgbClr val="EEF1F8"/>
          </a:solidFill>
          <a:ln w="12700">
            <a:solidFill>
              <a:srgbClr val="EEF1F8"/>
            </a:solidFill>
            <a:prstDash val="solid"/>
          </a:ln>
        </p:spPr>
        <p:txBody>
          <a:bodyPr/>
          <a:lstStyle/>
          <a:p>
            <a:endParaRPr lang="en-MY"/>
          </a:p>
        </p:txBody>
      </p:sp>
      <p:sp>
        <p:nvSpPr>
          <p:cNvPr id="6" name="Text 3"/>
          <p:cNvSpPr/>
          <p:nvPr/>
        </p:nvSpPr>
        <p:spPr>
          <a:xfrm>
            <a:off x="768096" y="4956048"/>
            <a:ext cx="5001768" cy="969264"/>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Held constant</a:t>
            </a:r>
            <a:endParaRPr lang="en-US" sz="1300" dirty="0"/>
          </a:p>
          <a:p>
            <a:pPr marL="0" indent="0">
              <a:buNone/>
            </a:pPr>
            <a:r>
              <a:rPr lang="en-US" sz="1350" dirty="0">
                <a:solidFill>
                  <a:srgbClr val="1F2430"/>
                </a:solidFill>
                <a:latin typeface="Calibri" pitchFamily="34" charset="0"/>
                <a:ea typeface="Calibri" pitchFamily="34" charset="-122"/>
                <a:cs typeface="Calibri" pitchFamily="34" charset="-120"/>
              </a:rPr>
              <a:t>Same architecture, hyperparameters, seed and splits</a:t>
            </a:r>
            <a:endParaRPr lang="en-US" sz="1300" dirty="0"/>
          </a:p>
        </p:txBody>
      </p:sp>
      <p:sp>
        <p:nvSpPr>
          <p:cNvPr id="7" name="Shape 4"/>
          <p:cNvSpPr/>
          <p:nvPr/>
        </p:nvSpPr>
        <p:spPr>
          <a:xfrm>
            <a:off x="6199632" y="4846320"/>
            <a:ext cx="5440680" cy="1188720"/>
          </a:xfrm>
          <a:prstGeom prst="roundRect">
            <a:avLst>
              <a:gd name="adj" fmla="val 4615"/>
            </a:avLst>
          </a:prstGeom>
          <a:solidFill>
            <a:srgbClr val="FBF2E4"/>
          </a:solidFill>
          <a:ln w="12700">
            <a:solidFill>
              <a:srgbClr val="FBF2E4"/>
            </a:solidFill>
            <a:prstDash val="solid"/>
          </a:ln>
        </p:spPr>
        <p:txBody>
          <a:bodyPr/>
          <a:lstStyle/>
          <a:p>
            <a:endParaRPr lang="en-MY"/>
          </a:p>
        </p:txBody>
      </p:sp>
      <p:sp>
        <p:nvSpPr>
          <p:cNvPr id="8" name="Text 5"/>
          <p:cNvSpPr/>
          <p:nvPr/>
        </p:nvSpPr>
        <p:spPr>
          <a:xfrm>
            <a:off x="6419088" y="4956048"/>
            <a:ext cx="5001768" cy="969264"/>
          </a:xfrm>
          <a:prstGeom prst="rect">
            <a:avLst/>
          </a:prstGeom>
          <a:noFill/>
          <a:ln/>
        </p:spPr>
        <p:txBody>
          <a:bodyPr wrap="square" lIns="0" tIns="0" rIns="0" bIns="0" rtlCol="0" anchor="ctr"/>
          <a:lstStyle/>
          <a:p>
            <a:pPr marL="0" indent="0">
              <a:buNone/>
            </a:pPr>
            <a:r>
              <a:rPr lang="en-US" sz="1300" b="1" dirty="0">
                <a:solidFill>
                  <a:srgbClr val="8A5A12"/>
                </a:solidFill>
                <a:latin typeface="Calibri" pitchFamily="34" charset="0"/>
                <a:ea typeface="Calibri" pitchFamily="34" charset="-122"/>
                <a:cs typeface="Calibri" pitchFamily="34" charset="-120"/>
              </a:rPr>
              <a:t>Evaluation metrics</a:t>
            </a:r>
            <a:endParaRPr lang="en-US" sz="1300" dirty="0"/>
          </a:p>
          <a:p>
            <a:pPr marL="0" indent="0">
              <a:buNone/>
            </a:pPr>
            <a:r>
              <a:rPr lang="en-US" sz="1350" dirty="0">
                <a:solidFill>
                  <a:srgbClr val="1F2430"/>
                </a:solidFill>
                <a:latin typeface="Calibri" pitchFamily="34" charset="0"/>
                <a:ea typeface="Calibri" pitchFamily="34" charset="-122"/>
                <a:cs typeface="Calibri" pitchFamily="34" charset="-120"/>
              </a:rPr>
              <a:t>mAP@0.5: whether the object was found. </a:t>
            </a:r>
          </a:p>
          <a:p>
            <a:pPr marL="0" indent="0">
              <a:buNone/>
            </a:pPr>
            <a:r>
              <a:rPr lang="en-US" sz="1350" dirty="0" err="1">
                <a:solidFill>
                  <a:srgbClr val="1F2430"/>
                </a:solidFill>
                <a:latin typeface="Calibri" pitchFamily="34" charset="0"/>
                <a:ea typeface="Calibri" pitchFamily="34" charset="-122"/>
                <a:cs typeface="Calibri" pitchFamily="34" charset="-120"/>
              </a:rPr>
              <a:t>mAP</a:t>
            </a:r>
            <a:r>
              <a:rPr lang="en-US" sz="1350" dirty="0">
                <a:solidFill>
                  <a:srgbClr val="1F2430"/>
                </a:solidFill>
                <a:latin typeface="Calibri" pitchFamily="34" charset="0"/>
                <a:ea typeface="Calibri" pitchFamily="34" charset="-122"/>
                <a:cs typeface="Calibri" pitchFamily="34" charset="-120"/>
              </a:rPr>
              <a:t>@[.5:.95]: how precisely the box was drawn. </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EF2F7C-CB0B-855E-694D-97A33785105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E24F27D-EEE2-B43F-D0EA-18EEB9D32AF4}"/>
              </a:ext>
            </a:extLst>
          </p:cNvPr>
          <p:cNvSpPr/>
          <p:nvPr/>
        </p:nvSpPr>
        <p:spPr>
          <a:xfrm>
            <a:off x="548640" y="292608"/>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Preliminary phase: VLM Teacher Selection</a:t>
            </a:r>
            <a:endParaRPr lang="en-US" sz="3000" dirty="0"/>
          </a:p>
        </p:txBody>
      </p:sp>
      <p:sp>
        <p:nvSpPr>
          <p:cNvPr id="3" name="Text 1">
            <a:extLst>
              <a:ext uri="{FF2B5EF4-FFF2-40B4-BE49-F238E27FC236}">
                <a16:creationId xmlns:a16="http://schemas.microsoft.com/office/drawing/2014/main" id="{C477D65B-2E98-F3AA-AF23-12325016A333}"/>
              </a:ext>
            </a:extLst>
          </p:cNvPr>
          <p:cNvSpPr/>
          <p:nvPr/>
        </p:nvSpPr>
        <p:spPr>
          <a:xfrm>
            <a:off x="548640" y="877824"/>
            <a:ext cx="11094415" cy="310896"/>
          </a:xfrm>
          <a:prstGeom prst="rect">
            <a:avLst/>
          </a:prstGeom>
          <a:noFill/>
          <a:ln/>
        </p:spPr>
        <p:txBody>
          <a:bodyPr wrap="square" lIns="0" tIns="0" rIns="0" bIns="0" rtlCol="0" anchor="ctr"/>
          <a:lstStyle/>
          <a:p>
            <a:pPr marL="0" indent="0" algn="l">
              <a:buNone/>
            </a:pPr>
            <a:r>
              <a:rPr lang="en-US" sz="1400" dirty="0">
                <a:solidFill>
                  <a:srgbClr val="5C6472"/>
                </a:solidFill>
                <a:latin typeface="Calibri" pitchFamily="34" charset="0"/>
                <a:ea typeface="Calibri" pitchFamily="34" charset="-122"/>
                <a:cs typeface="Calibri" pitchFamily="34" charset="-120"/>
              </a:rPr>
              <a:t>Three open-vocabulary candidates, run zero-shot on raw and enhanced images using a stratified sample of 600 images (~2,000 bounding boxes)</a:t>
            </a:r>
            <a:endParaRPr lang="en-US" sz="1400" dirty="0"/>
          </a:p>
        </p:txBody>
      </p:sp>
      <p:sp>
        <p:nvSpPr>
          <p:cNvPr id="6" name="Text 3">
            <a:extLst>
              <a:ext uri="{FF2B5EF4-FFF2-40B4-BE49-F238E27FC236}">
                <a16:creationId xmlns:a16="http://schemas.microsoft.com/office/drawing/2014/main" id="{59CA3967-B346-1323-2085-651EE44548ED}"/>
              </a:ext>
            </a:extLst>
          </p:cNvPr>
          <p:cNvSpPr/>
          <p:nvPr/>
        </p:nvSpPr>
        <p:spPr>
          <a:xfrm>
            <a:off x="668546" y="3840480"/>
            <a:ext cx="9812547" cy="3017520"/>
          </a:xfrm>
          <a:prstGeom prst="rect">
            <a:avLst/>
          </a:prstGeom>
          <a:noFill/>
          <a:ln/>
        </p:spPr>
        <p:txBody>
          <a:bodyPr wrap="square" lIns="0" tIns="0" rIns="0" bIns="0" rtlCol="0" anchor="t"/>
          <a:lstStyle/>
          <a:p>
            <a:pPr marL="342900" indent="-342900">
              <a:spcAft>
                <a:spcPts val="1600"/>
              </a:spcAft>
              <a:buSzPct val="100000"/>
              <a:buChar char="•"/>
            </a:pPr>
            <a:r>
              <a:rPr lang="en-US" sz="1400" dirty="0">
                <a:solidFill>
                  <a:srgbClr val="1F2430"/>
                </a:solidFill>
                <a:latin typeface="Calibri" pitchFamily="34" charset="0"/>
                <a:ea typeface="Calibri" pitchFamily="34" charset="-122"/>
                <a:cs typeface="Calibri" pitchFamily="34" charset="-120"/>
              </a:rPr>
              <a:t>Precision alone cannot rank teachers </a:t>
            </a:r>
          </a:p>
          <a:p>
            <a:pPr marL="342900" indent="-342900">
              <a:spcAft>
                <a:spcPts val="1600"/>
              </a:spcAft>
              <a:buSzPct val="100000"/>
              <a:buChar char="•"/>
            </a:pPr>
            <a:r>
              <a:rPr lang="en-US" sz="1400" dirty="0">
                <a:solidFill>
                  <a:srgbClr val="1F2430"/>
                </a:solidFill>
                <a:latin typeface="Calibri" pitchFamily="34" charset="0"/>
                <a:ea typeface="Calibri" pitchFamily="34" charset="-122"/>
                <a:cs typeface="Calibri" pitchFamily="34" charset="-120"/>
              </a:rPr>
              <a:t>Constraints added: at least 1,000 boxes (50% of labels in stratified sample), and at least 10 in every class</a:t>
            </a:r>
            <a:endParaRPr lang="en-US" sz="1400" dirty="0"/>
          </a:p>
          <a:p>
            <a:pPr marL="342900" indent="-342900">
              <a:spcAft>
                <a:spcPts val="1600"/>
              </a:spcAft>
              <a:buSzPct val="100000"/>
              <a:buChar char="•"/>
            </a:pPr>
            <a:r>
              <a:rPr lang="en-US" sz="1400" dirty="0">
                <a:solidFill>
                  <a:srgbClr val="1F2430"/>
                </a:solidFill>
                <a:latin typeface="Calibri" pitchFamily="34" charset="0"/>
                <a:ea typeface="Calibri" pitchFamily="34" charset="-122"/>
                <a:cs typeface="Calibri" pitchFamily="34" charset="-120"/>
              </a:rPr>
              <a:t>Selected: YOLO-World v8, enhanced images, threshold 0.60</a:t>
            </a:r>
            <a:endParaRPr lang="en-US" sz="1400" dirty="0"/>
          </a:p>
        </p:txBody>
      </p:sp>
      <p:graphicFrame>
        <p:nvGraphicFramePr>
          <p:cNvPr id="7" name="Table 0">
            <a:extLst>
              <a:ext uri="{FF2B5EF4-FFF2-40B4-BE49-F238E27FC236}">
                <a16:creationId xmlns:a16="http://schemas.microsoft.com/office/drawing/2014/main" id="{0C09DB8D-5765-B231-7F06-1F11DA10C6D6}"/>
              </a:ext>
            </a:extLst>
          </p:cNvPr>
          <p:cNvGraphicFramePr>
            <a:graphicFrameLocks noGrp="1"/>
          </p:cNvGraphicFramePr>
          <p:nvPr>
            <p:extLst>
              <p:ext uri="{D42A27DB-BD31-4B8C-83A1-F6EECF244321}">
                <p14:modId xmlns:p14="http://schemas.microsoft.com/office/powerpoint/2010/main" val="406259012"/>
              </p:ext>
            </p:extLst>
          </p:nvPr>
        </p:nvGraphicFramePr>
        <p:xfrm>
          <a:off x="545897" y="1463040"/>
          <a:ext cx="11094415" cy="1828800"/>
        </p:xfrm>
        <a:graphic>
          <a:graphicData uri="http://schemas.openxmlformats.org/drawingml/2006/table">
            <a:tbl>
              <a:tblPr/>
              <a:tblGrid>
                <a:gridCol w="3108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133295">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457200">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Teacher</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Precision</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Boxes kept</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Zero-F1 classes</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Mean per-class F1</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57200">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OWLv2</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0.864</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C77A18"/>
                          </a:solidFill>
                          <a:latin typeface="Calibri" pitchFamily="34" charset="0"/>
                          <a:ea typeface="Calibri" pitchFamily="34" charset="-122"/>
                          <a:cs typeface="Calibri" pitchFamily="34" charset="-120"/>
                        </a:rPr>
                        <a:t>265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C77A18"/>
                          </a:solidFill>
                          <a:latin typeface="Calibri" pitchFamily="34" charset="0"/>
                          <a:ea typeface="Calibri" pitchFamily="34" charset="-122"/>
                          <a:cs typeface="Calibri" pitchFamily="34" charset="-120"/>
                        </a:rPr>
                        <a:t>5 of 12</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0.326</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MM Grounding DINO</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0.859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802</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 of 12</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0.481</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extLst>
                  <a:ext uri="{0D108BD9-81ED-4DB2-BD59-A6C34878D82A}">
                    <a16:rowId xmlns:a16="http://schemas.microsoft.com/office/drawing/2014/main" val="10002"/>
                  </a:ext>
                </a:extLst>
              </a:tr>
              <a:tr h="457200">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YOLO-World v8</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0.849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1,255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 of 12</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0.641</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bl>
          </a:graphicData>
        </a:graphic>
      </p:graphicFrame>
      <p:sp>
        <p:nvSpPr>
          <p:cNvPr id="8" name="Text 4">
            <a:extLst>
              <a:ext uri="{FF2B5EF4-FFF2-40B4-BE49-F238E27FC236}">
                <a16:creationId xmlns:a16="http://schemas.microsoft.com/office/drawing/2014/main" id="{F8F7F40D-C03B-D9CA-2953-79A130557FD1}"/>
              </a:ext>
            </a:extLst>
          </p:cNvPr>
          <p:cNvSpPr/>
          <p:nvPr/>
        </p:nvSpPr>
        <p:spPr>
          <a:xfrm>
            <a:off x="548640" y="3351880"/>
            <a:ext cx="11094415" cy="256032"/>
          </a:xfrm>
          <a:prstGeom prst="rect">
            <a:avLst/>
          </a:prstGeom>
          <a:noFill/>
          <a:ln/>
        </p:spPr>
        <p:txBody>
          <a:bodyPr wrap="square" lIns="0" tIns="0" rIns="0" bIns="0" rtlCol="0" anchor="ctr"/>
          <a:lstStyle/>
          <a:p>
            <a:pPr marL="0" indent="0" algn="ctr">
              <a:buNone/>
            </a:pPr>
            <a:r>
              <a:rPr lang="en-US" sz="1200" i="1" dirty="0">
                <a:solidFill>
                  <a:srgbClr val="5C6472"/>
                </a:solidFill>
                <a:latin typeface="Calibri" pitchFamily="34" charset="0"/>
                <a:ea typeface="Calibri" pitchFamily="34" charset="-122"/>
                <a:cs typeface="Calibri" pitchFamily="34" charset="-120"/>
              </a:rPr>
              <a:t>Teacher performance at 0.60 confidence, enhanced condition</a:t>
            </a:r>
            <a:endParaRPr lang="en-US" sz="1200" dirty="0"/>
          </a:p>
        </p:txBody>
      </p:sp>
    </p:spTree>
    <p:extLst>
      <p:ext uri="{BB962C8B-B14F-4D97-AF65-F5344CB8AC3E}">
        <p14:creationId xmlns:p14="http://schemas.microsoft.com/office/powerpoint/2010/main" val="136540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8357375-04A1-ADF5-CD6D-73BAA8A6708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5215808-F9CF-7DFA-1D36-D65CEFA8A4D6}"/>
              </a:ext>
            </a:extLst>
          </p:cNvPr>
          <p:cNvSpPr/>
          <p:nvPr/>
        </p:nvSpPr>
        <p:spPr>
          <a:xfrm>
            <a:off x="548640" y="292608"/>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Stage 1: VLM Pseudo Label Generation</a:t>
            </a:r>
            <a:endParaRPr lang="en-US" sz="3000" dirty="0"/>
          </a:p>
        </p:txBody>
      </p:sp>
      <p:sp>
        <p:nvSpPr>
          <p:cNvPr id="3" name="Text 1">
            <a:extLst>
              <a:ext uri="{FF2B5EF4-FFF2-40B4-BE49-F238E27FC236}">
                <a16:creationId xmlns:a16="http://schemas.microsoft.com/office/drawing/2014/main" id="{0D709039-2FEF-1CF9-C062-FC9A392C6FDF}"/>
              </a:ext>
            </a:extLst>
          </p:cNvPr>
          <p:cNvSpPr/>
          <p:nvPr/>
        </p:nvSpPr>
        <p:spPr>
          <a:xfrm>
            <a:off x="548640" y="877824"/>
            <a:ext cx="11094415" cy="310896"/>
          </a:xfrm>
          <a:prstGeom prst="rect">
            <a:avLst/>
          </a:prstGeom>
          <a:noFill/>
          <a:ln/>
        </p:spPr>
        <p:txBody>
          <a:bodyPr wrap="square" lIns="0" tIns="0" rIns="0" bIns="0" rtlCol="0" anchor="ctr"/>
          <a:lstStyle/>
          <a:p>
            <a:pPr marL="0" indent="0" algn="l">
              <a:buNone/>
            </a:pPr>
            <a:r>
              <a:rPr lang="en-US" sz="1400" dirty="0">
                <a:solidFill>
                  <a:srgbClr val="5C6472"/>
                </a:solidFill>
                <a:latin typeface="Calibri" pitchFamily="34" charset="0"/>
                <a:ea typeface="Calibri" pitchFamily="34" charset="-122"/>
                <a:cs typeface="Calibri" pitchFamily="34" charset="-120"/>
              </a:rPr>
              <a:t>The teacher is re-run across the full 5,886-image training split, not the 600-image sample</a:t>
            </a:r>
            <a:endParaRPr lang="en-US" sz="1400" dirty="0"/>
          </a:p>
        </p:txBody>
      </p:sp>
      <p:graphicFrame>
        <p:nvGraphicFramePr>
          <p:cNvPr id="7" name="Table 0">
            <a:extLst>
              <a:ext uri="{FF2B5EF4-FFF2-40B4-BE49-F238E27FC236}">
                <a16:creationId xmlns:a16="http://schemas.microsoft.com/office/drawing/2014/main" id="{6A67E713-535D-AC87-5824-9061C23CF506}"/>
              </a:ext>
            </a:extLst>
          </p:cNvPr>
          <p:cNvGraphicFramePr>
            <a:graphicFrameLocks noGrp="1"/>
          </p:cNvGraphicFramePr>
          <p:nvPr/>
        </p:nvGraphicFramePr>
        <p:xfrm>
          <a:off x="548640" y="1554480"/>
          <a:ext cx="11094415" cy="2414016"/>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2133295">
                  <a:extLst>
                    <a:ext uri="{9D8B030D-6E8A-4147-A177-3AD203B41FA5}">
                      <a16:colId xmlns:a16="http://schemas.microsoft.com/office/drawing/2014/main" val="20004"/>
                    </a:ext>
                  </a:extLst>
                </a:gridCol>
                <a:gridCol w="2011680">
                  <a:extLst>
                    <a:ext uri="{9D8B030D-6E8A-4147-A177-3AD203B41FA5}">
                      <a16:colId xmlns:a16="http://schemas.microsoft.com/office/drawing/2014/main" val="20005"/>
                    </a:ext>
                  </a:extLst>
                </a:gridCol>
              </a:tblGrid>
              <a:tr h="402336">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Threshold</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Precision</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Recall</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F1</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Boxes kept</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Smallest class</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02336">
                <a:tc>
                  <a:txBody>
                    <a:bodyPr/>
                    <a:lstStyle/>
                    <a:p>
                      <a:pPr marL="0" indent="0" algn="l">
                        <a:buNone/>
                      </a:pPr>
                      <a:r>
                        <a:rPr lang="en-US" sz="1300" b="1" dirty="0">
                          <a:solidFill>
                            <a:srgbClr val="1F2430"/>
                          </a:solidFill>
                          <a:latin typeface="Calibri" pitchFamily="34" charset="0"/>
                          <a:ea typeface="Calibri" pitchFamily="34" charset="-122"/>
                          <a:cs typeface="Calibri" pitchFamily="34" charset="-120"/>
                        </a:rPr>
                        <a:t>0.55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0.819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0.573</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0.674</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13,366</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131</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1"/>
                  </a:ext>
                </a:extLst>
              </a:tr>
              <a:tr h="402336">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0.843</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0.539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0.657</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12,200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99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2"/>
                  </a:ext>
                </a:extLst>
              </a:tr>
              <a:tr h="402336">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0.65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0.867</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0.503</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0.637</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11,084</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0.70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0.890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0.458</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0.605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9,842</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36</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extLst>
                  <a:ext uri="{0D108BD9-81ED-4DB2-BD59-A6C34878D82A}">
                    <a16:rowId xmlns:a16="http://schemas.microsoft.com/office/drawing/2014/main" val="10004"/>
                  </a:ext>
                </a:extLst>
              </a:tr>
              <a:tr h="402336">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0.75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0.913</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0.410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0.566</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8,582</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C77A18"/>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a:extLst>
              <a:ext uri="{FF2B5EF4-FFF2-40B4-BE49-F238E27FC236}">
                <a16:creationId xmlns:a16="http://schemas.microsoft.com/office/drawing/2014/main" id="{948B102D-29EE-FFF4-DEAA-91432159EE7E}"/>
              </a:ext>
            </a:extLst>
          </p:cNvPr>
          <p:cNvSpPr/>
          <p:nvPr/>
        </p:nvSpPr>
        <p:spPr>
          <a:xfrm>
            <a:off x="548640" y="4096512"/>
            <a:ext cx="11094415" cy="256032"/>
          </a:xfrm>
          <a:prstGeom prst="rect">
            <a:avLst/>
          </a:prstGeom>
          <a:noFill/>
          <a:ln/>
        </p:spPr>
        <p:txBody>
          <a:bodyPr wrap="square" lIns="0" tIns="0" rIns="0" bIns="0" rtlCol="0" anchor="ctr"/>
          <a:lstStyle/>
          <a:p>
            <a:pPr marL="0" indent="0" algn="ctr">
              <a:buNone/>
            </a:pPr>
            <a:r>
              <a:rPr lang="en-US" sz="1200" i="1" dirty="0">
                <a:solidFill>
                  <a:srgbClr val="5C6472"/>
                </a:solidFill>
                <a:latin typeface="Calibri" pitchFamily="34" charset="0"/>
                <a:ea typeface="Calibri" pitchFamily="34" charset="-122"/>
                <a:cs typeface="Calibri" pitchFamily="34" charset="-120"/>
              </a:rPr>
              <a:t>Precision–coverage trade-off, YOLO-World enhanced</a:t>
            </a:r>
            <a:endParaRPr lang="en-US" sz="1200" dirty="0"/>
          </a:p>
        </p:txBody>
      </p:sp>
      <p:sp>
        <p:nvSpPr>
          <p:cNvPr id="8" name="Text 4">
            <a:extLst>
              <a:ext uri="{FF2B5EF4-FFF2-40B4-BE49-F238E27FC236}">
                <a16:creationId xmlns:a16="http://schemas.microsoft.com/office/drawing/2014/main" id="{626BAD88-E9A6-B248-E9EC-0E61ACD56A08}"/>
              </a:ext>
            </a:extLst>
          </p:cNvPr>
          <p:cNvSpPr/>
          <p:nvPr/>
        </p:nvSpPr>
        <p:spPr>
          <a:xfrm>
            <a:off x="548639" y="4679658"/>
            <a:ext cx="11094415" cy="18745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F2430"/>
                </a:solidFill>
                <a:latin typeface="Calibri" pitchFamily="34" charset="0"/>
                <a:ea typeface="Calibri" pitchFamily="34" charset="-122"/>
                <a:cs typeface="Calibri" pitchFamily="34" charset="-120"/>
              </a:rPr>
              <a:t>Precision rises and coverage falls in every row</a:t>
            </a:r>
            <a:endParaRPr lang="en-US" sz="1400" dirty="0"/>
          </a:p>
          <a:p>
            <a:pPr marL="342900" indent="-342900">
              <a:spcAft>
                <a:spcPts val="1000"/>
              </a:spcAft>
              <a:buSzPct val="100000"/>
              <a:buChar char="•"/>
            </a:pPr>
            <a:r>
              <a:rPr lang="en-US" sz="1400" dirty="0">
                <a:solidFill>
                  <a:srgbClr val="1F2430"/>
                </a:solidFill>
                <a:latin typeface="Calibri" pitchFamily="34" charset="0"/>
                <a:ea typeface="Calibri" pitchFamily="34" charset="-122"/>
                <a:cs typeface="Calibri" pitchFamily="34" charset="-120"/>
              </a:rPr>
              <a:t>0.55 maximises F1 and keeps the most labels</a:t>
            </a:r>
            <a:endParaRPr lang="en-US" sz="1400" dirty="0"/>
          </a:p>
          <a:p>
            <a:pPr marL="342900" indent="-342900">
              <a:spcAft>
                <a:spcPts val="1000"/>
              </a:spcAft>
              <a:buSzPct val="100000"/>
              <a:buChar char="•"/>
            </a:pPr>
            <a:r>
              <a:rPr lang="en-US" sz="1400" dirty="0">
                <a:solidFill>
                  <a:srgbClr val="1F2430"/>
                </a:solidFill>
                <a:latin typeface="Calibri" pitchFamily="34" charset="0"/>
                <a:ea typeface="Calibri" pitchFamily="34" charset="-122"/>
                <a:cs typeface="Calibri" pitchFamily="34" charset="-120"/>
              </a:rPr>
              <a:t>At 0.75 the smallest class holds 15 boxes, making it unusable</a:t>
            </a:r>
            <a:endParaRPr lang="en-US" sz="1400" dirty="0"/>
          </a:p>
          <a:p>
            <a:pPr marL="342900" indent="-342900">
              <a:spcAft>
                <a:spcPts val="1000"/>
              </a:spcAft>
              <a:buSzPct val="100000"/>
              <a:buChar char="•"/>
            </a:pPr>
            <a:r>
              <a:rPr lang="en-US" sz="1400" dirty="0">
                <a:solidFill>
                  <a:srgbClr val="1F2430"/>
                </a:solidFill>
                <a:latin typeface="Calibri" pitchFamily="34" charset="0"/>
                <a:ea typeface="Calibri" pitchFamily="34" charset="-122"/>
                <a:cs typeface="Calibri" pitchFamily="34" charset="-120"/>
              </a:rPr>
              <a:t>Both 0.55 and 0.60 are carried into Stage 2</a:t>
            </a:r>
            <a:endParaRPr lang="en-US" sz="1400" dirty="0"/>
          </a:p>
        </p:txBody>
      </p:sp>
    </p:spTree>
    <p:extLst>
      <p:ext uri="{BB962C8B-B14F-4D97-AF65-F5344CB8AC3E}">
        <p14:creationId xmlns:p14="http://schemas.microsoft.com/office/powerpoint/2010/main" val="2180771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Stage 1: VLM Pseudo Label Generation</a:t>
            </a:r>
            <a:endParaRPr lang="en-US" sz="3000" dirty="0"/>
          </a:p>
        </p:txBody>
      </p:sp>
      <p:sp>
        <p:nvSpPr>
          <p:cNvPr id="3" name="Text 1"/>
          <p:cNvSpPr/>
          <p:nvPr/>
        </p:nvSpPr>
        <p:spPr>
          <a:xfrm>
            <a:off x="548640" y="877824"/>
            <a:ext cx="11094415" cy="310896"/>
          </a:xfrm>
          <a:prstGeom prst="rect">
            <a:avLst/>
          </a:prstGeom>
          <a:noFill/>
          <a:ln/>
        </p:spPr>
        <p:txBody>
          <a:bodyPr wrap="square" lIns="0" tIns="0" rIns="0" bIns="0" rtlCol="0" anchor="ctr"/>
          <a:lstStyle/>
          <a:p>
            <a:pPr marL="0" indent="0" algn="l">
              <a:buNone/>
            </a:pPr>
            <a:r>
              <a:rPr lang="en-US" sz="1400" dirty="0">
                <a:solidFill>
                  <a:srgbClr val="5C6472"/>
                </a:solidFill>
                <a:latin typeface="Calibri" pitchFamily="34" charset="0"/>
                <a:ea typeface="Calibri" pitchFamily="34" charset="-122"/>
                <a:cs typeface="Calibri" pitchFamily="34" charset="-120"/>
              </a:rPr>
              <a:t>Enhancement produced nearly identical results as raw images</a:t>
            </a:r>
            <a:endParaRPr lang="en-US" sz="1400" dirty="0"/>
          </a:p>
        </p:txBody>
      </p:sp>
      <p:pic>
        <p:nvPicPr>
          <p:cNvPr id="6" name="Image 0" descr="C:\Users\xiong\AppData\Local\Temp\claude\C--Users-xiong-Desktop-UM-MAI-2025-FYP-Part-2-Final-Code\2e03b641-b962-436d-91ad-a469587e5a9f\scratchpad\media\image5.jpg"/>
          <p:cNvPicPr>
            <a:picLocks noChangeAspect="1"/>
          </p:cNvPicPr>
          <p:nvPr/>
        </p:nvPicPr>
        <p:blipFill>
          <a:blip r:embed="rId3"/>
          <a:stretch>
            <a:fillRect/>
          </a:stretch>
        </p:blipFill>
        <p:spPr>
          <a:xfrm>
            <a:off x="372300" y="1819656"/>
            <a:ext cx="11447093" cy="40031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7F8BB78-62E2-6409-C28A-71469DAA1EA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251E28D-397D-D125-6152-ABD612865A9B}"/>
              </a:ext>
            </a:extLst>
          </p:cNvPr>
          <p:cNvSpPr/>
          <p:nvPr/>
        </p:nvSpPr>
        <p:spPr>
          <a:xfrm>
            <a:off x="548640" y="292608"/>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Stage 2: Knowledge Distillation &amp; Training</a:t>
            </a:r>
            <a:endParaRPr lang="en-US" sz="3000" dirty="0"/>
          </a:p>
        </p:txBody>
      </p:sp>
      <p:sp>
        <p:nvSpPr>
          <p:cNvPr id="3" name="Text 1">
            <a:extLst>
              <a:ext uri="{FF2B5EF4-FFF2-40B4-BE49-F238E27FC236}">
                <a16:creationId xmlns:a16="http://schemas.microsoft.com/office/drawing/2014/main" id="{1822D77A-0BF9-08FE-7E74-A1F18F923169}"/>
              </a:ext>
            </a:extLst>
          </p:cNvPr>
          <p:cNvSpPr/>
          <p:nvPr/>
        </p:nvSpPr>
        <p:spPr>
          <a:xfrm>
            <a:off x="548640" y="877824"/>
            <a:ext cx="11094415" cy="310896"/>
          </a:xfrm>
          <a:prstGeom prst="rect">
            <a:avLst/>
          </a:prstGeom>
          <a:noFill/>
          <a:ln/>
        </p:spPr>
        <p:txBody>
          <a:bodyPr wrap="square" lIns="0" tIns="0" rIns="0" bIns="0" rtlCol="0" anchor="ctr"/>
          <a:lstStyle/>
          <a:p>
            <a:pPr marL="0" indent="0" algn="l">
              <a:buNone/>
            </a:pPr>
            <a:r>
              <a:rPr lang="en-US" sz="1400" dirty="0">
                <a:solidFill>
                  <a:srgbClr val="5C6472"/>
                </a:solidFill>
                <a:latin typeface="Calibri" pitchFamily="34" charset="0"/>
                <a:ea typeface="Calibri" pitchFamily="34" charset="-122"/>
                <a:cs typeface="Calibri" pitchFamily="34" charset="-120"/>
              </a:rPr>
              <a:t>Condition A is strongest, Pseudo-labels produce reasonably good mAP@0.5 but struggle with stricter </a:t>
            </a:r>
            <a:r>
              <a:rPr lang="en-US" sz="1400" dirty="0" err="1">
                <a:solidFill>
                  <a:srgbClr val="5C6472"/>
                </a:solidFill>
                <a:latin typeface="Calibri" pitchFamily="34" charset="0"/>
                <a:ea typeface="Calibri" pitchFamily="34" charset="-122"/>
                <a:cs typeface="Calibri" pitchFamily="34" charset="-120"/>
              </a:rPr>
              <a:t>mAP</a:t>
            </a:r>
            <a:endParaRPr lang="en-US" sz="1400" dirty="0"/>
          </a:p>
        </p:txBody>
      </p:sp>
      <p:graphicFrame>
        <p:nvGraphicFramePr>
          <p:cNvPr id="8" name="Table 0">
            <a:extLst>
              <a:ext uri="{FF2B5EF4-FFF2-40B4-BE49-F238E27FC236}">
                <a16:creationId xmlns:a16="http://schemas.microsoft.com/office/drawing/2014/main" id="{9827EA35-D893-0874-9B6F-1DA53D908B8E}"/>
              </a:ext>
            </a:extLst>
          </p:cNvPr>
          <p:cNvGraphicFramePr>
            <a:graphicFrameLocks noGrp="1"/>
          </p:cNvGraphicFramePr>
          <p:nvPr>
            <p:extLst>
              <p:ext uri="{D42A27DB-BD31-4B8C-83A1-F6EECF244321}">
                <p14:modId xmlns:p14="http://schemas.microsoft.com/office/powerpoint/2010/main" val="3676918540"/>
              </p:ext>
            </p:extLst>
          </p:nvPr>
        </p:nvGraphicFramePr>
        <p:xfrm>
          <a:off x="548640" y="1463040"/>
          <a:ext cx="10872216" cy="2103120"/>
        </p:xfrm>
        <a:graphic>
          <a:graphicData uri="http://schemas.openxmlformats.org/drawingml/2006/table">
            <a:tbl>
              <a:tblPr/>
              <a:tblGrid>
                <a:gridCol w="3921127">
                  <a:extLst>
                    <a:ext uri="{9D8B030D-6E8A-4147-A177-3AD203B41FA5}">
                      <a16:colId xmlns:a16="http://schemas.microsoft.com/office/drawing/2014/main" val="20000"/>
                    </a:ext>
                  </a:extLst>
                </a:gridCol>
                <a:gridCol w="2227913">
                  <a:extLst>
                    <a:ext uri="{9D8B030D-6E8A-4147-A177-3AD203B41FA5}">
                      <a16:colId xmlns:a16="http://schemas.microsoft.com/office/drawing/2014/main" val="20001"/>
                    </a:ext>
                  </a:extLst>
                </a:gridCol>
                <a:gridCol w="2673496">
                  <a:extLst>
                    <a:ext uri="{9D8B030D-6E8A-4147-A177-3AD203B41FA5}">
                      <a16:colId xmlns:a16="http://schemas.microsoft.com/office/drawing/2014/main" val="20002"/>
                    </a:ext>
                  </a:extLst>
                </a:gridCol>
                <a:gridCol w="2049680">
                  <a:extLst>
                    <a:ext uri="{9D8B030D-6E8A-4147-A177-3AD203B41FA5}">
                      <a16:colId xmlns:a16="http://schemas.microsoft.com/office/drawing/2014/main" val="20003"/>
                    </a:ext>
                  </a:extLst>
                </a:gridCol>
              </a:tblGrid>
              <a:tr h="420624">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Condition</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mAP@0.5</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mAP@[.5:.95]</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Tightness</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20624">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A · raw + human</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0.893</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0.634</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0.710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B · enhanced + human</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0.883</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0.621</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0.703</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extLst>
                  <a:ext uri="{0D108BD9-81ED-4DB2-BD59-A6C34878D82A}">
                    <a16:rowId xmlns:a16="http://schemas.microsoft.com/office/drawing/2014/main" val="10002"/>
                  </a:ext>
                </a:extLst>
              </a:tr>
              <a:tr h="420624">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C@0.55 · pseudo</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0.758</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0.420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C77A18"/>
                          </a:solidFill>
                          <a:latin typeface="Calibri" pitchFamily="34" charset="0"/>
                          <a:ea typeface="Calibri" pitchFamily="34" charset="-122"/>
                          <a:cs typeface="Calibri" pitchFamily="34" charset="-120"/>
                        </a:rPr>
                        <a:t>0.554</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C@0.60 · pseudo</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0.755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0.416</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b="1" dirty="0">
                          <a:solidFill>
                            <a:srgbClr val="C77A18"/>
                          </a:solidFill>
                          <a:latin typeface="Calibri" pitchFamily="34" charset="0"/>
                          <a:ea typeface="Calibri" pitchFamily="34" charset="-122"/>
                          <a:cs typeface="Calibri" pitchFamily="34" charset="-120"/>
                        </a:rPr>
                        <a:t>0.551</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extLst>
                  <a:ext uri="{0D108BD9-81ED-4DB2-BD59-A6C34878D82A}">
                    <a16:rowId xmlns:a16="http://schemas.microsoft.com/office/drawing/2014/main" val="10004"/>
                  </a:ext>
                </a:extLst>
              </a:tr>
            </a:tbl>
          </a:graphicData>
        </a:graphic>
      </p:graphicFrame>
      <p:sp>
        <p:nvSpPr>
          <p:cNvPr id="6" name="Text 3">
            <a:extLst>
              <a:ext uri="{FF2B5EF4-FFF2-40B4-BE49-F238E27FC236}">
                <a16:creationId xmlns:a16="http://schemas.microsoft.com/office/drawing/2014/main" id="{531FF63A-0DD6-8935-47A6-CABAB4F017DF}"/>
              </a:ext>
            </a:extLst>
          </p:cNvPr>
          <p:cNvSpPr/>
          <p:nvPr/>
        </p:nvSpPr>
        <p:spPr>
          <a:xfrm>
            <a:off x="548640" y="4114800"/>
            <a:ext cx="10872216" cy="1920240"/>
          </a:xfrm>
          <a:prstGeom prst="rect">
            <a:avLst/>
          </a:prstGeom>
          <a:noFill/>
          <a:ln/>
        </p:spPr>
        <p:txBody>
          <a:bodyPr wrap="square" lIns="0" tIns="0" rIns="0" bIns="0" rtlCol="0" anchor="t"/>
          <a:lstStyle/>
          <a:p>
            <a:pPr marL="342900" indent="-342900">
              <a:spcAft>
                <a:spcPts val="1800"/>
              </a:spcAft>
              <a:buSzPct val="100000"/>
              <a:buChar char="•"/>
            </a:pPr>
            <a:r>
              <a:rPr lang="en-US" sz="1400" dirty="0">
                <a:solidFill>
                  <a:srgbClr val="1F2430"/>
                </a:solidFill>
                <a:latin typeface="Calibri" pitchFamily="34" charset="0"/>
                <a:ea typeface="Calibri" pitchFamily="34" charset="-122"/>
                <a:cs typeface="Calibri" pitchFamily="34" charset="-120"/>
              </a:rPr>
              <a:t>Condition B falls below A, enhancement does not help</a:t>
            </a:r>
            <a:endParaRPr lang="en-US" sz="1400" dirty="0"/>
          </a:p>
          <a:p>
            <a:pPr marL="342900" indent="-342900">
              <a:spcAft>
                <a:spcPts val="1800"/>
              </a:spcAft>
              <a:buSzPct val="100000"/>
              <a:buChar char="•"/>
            </a:pPr>
            <a:r>
              <a:rPr lang="en-US" sz="1400" dirty="0">
                <a:solidFill>
                  <a:srgbClr val="1F2430"/>
                </a:solidFill>
                <a:latin typeface="Calibri" pitchFamily="34" charset="0"/>
                <a:ea typeface="Calibri" pitchFamily="34" charset="-122"/>
                <a:cs typeface="Calibri" pitchFamily="34" charset="-120"/>
              </a:rPr>
              <a:t>Pseudo-labels performance gap ~0.14 mAP@0.5, and ~0.21 mAP@[.5:.95]. Lower confidence threshold gives slightly better results.</a:t>
            </a:r>
            <a:endParaRPr lang="en-US" sz="1400" dirty="0"/>
          </a:p>
          <a:p>
            <a:pPr marL="342900" indent="-342900">
              <a:spcAft>
                <a:spcPts val="1800"/>
              </a:spcAft>
              <a:buSzPct val="100000"/>
              <a:buChar char="•"/>
            </a:pPr>
            <a:r>
              <a:rPr lang="en-US" sz="1400" dirty="0">
                <a:solidFill>
                  <a:srgbClr val="1F2430"/>
                </a:solidFill>
                <a:latin typeface="Calibri" pitchFamily="34" charset="0"/>
                <a:ea typeface="Calibri" pitchFamily="34" charset="-122"/>
                <a:cs typeface="Calibri" pitchFamily="34" charset="-120"/>
              </a:rPr>
              <a:t>Tightness (</a:t>
            </a:r>
            <a:r>
              <a:rPr lang="en-MY" sz="1400" dirty="0">
                <a:solidFill>
                  <a:srgbClr val="1F2430"/>
                </a:solidFill>
                <a:latin typeface="Calibri" pitchFamily="34" charset="0"/>
                <a:ea typeface="Calibri" pitchFamily="34" charset="-122"/>
                <a:cs typeface="Calibri" pitchFamily="34" charset="-120"/>
              </a:rPr>
              <a:t>Ratio of </a:t>
            </a:r>
            <a:r>
              <a:rPr lang="en-MY" sz="1400" dirty="0" err="1">
                <a:solidFill>
                  <a:srgbClr val="1F2430"/>
                </a:solidFill>
                <a:latin typeface="Calibri" pitchFamily="34" charset="0"/>
                <a:ea typeface="Calibri" pitchFamily="34" charset="-122"/>
                <a:cs typeface="Calibri" pitchFamily="34" charset="-120"/>
              </a:rPr>
              <a:t>mAP</a:t>
            </a:r>
            <a:r>
              <a:rPr lang="en-MY" sz="1400" dirty="0">
                <a:solidFill>
                  <a:srgbClr val="1F2430"/>
                </a:solidFill>
                <a:latin typeface="Calibri" pitchFamily="34" charset="0"/>
                <a:ea typeface="Calibri" pitchFamily="34" charset="-122"/>
                <a:cs typeface="Calibri" pitchFamily="34" charset="-120"/>
              </a:rPr>
              <a:t>@[.5:.95] to mAP@0.5)</a:t>
            </a:r>
          </a:p>
          <a:p>
            <a:pPr marL="800100" lvl="1" indent="-342900">
              <a:spcAft>
                <a:spcPts val="1800"/>
              </a:spcAft>
              <a:buSzPct val="100000"/>
              <a:buChar char="•"/>
            </a:pPr>
            <a:r>
              <a:rPr lang="en-US" sz="1400" dirty="0">
                <a:solidFill>
                  <a:srgbClr val="1F2430"/>
                </a:solidFill>
                <a:latin typeface="Calibri" pitchFamily="34" charset="0"/>
                <a:ea typeface="Calibri" pitchFamily="34" charset="-122"/>
                <a:cs typeface="Calibri" pitchFamily="34" charset="-120"/>
              </a:rPr>
              <a:t> 0.71 for human labels, 0.55 for pseudo-labels</a:t>
            </a:r>
          </a:p>
          <a:p>
            <a:pPr marL="800100" lvl="1" indent="-342900">
              <a:spcAft>
                <a:spcPts val="1800"/>
              </a:spcAft>
              <a:buSzPct val="100000"/>
              <a:buChar char="•"/>
            </a:pPr>
            <a:r>
              <a:rPr lang="en-US" sz="1400" dirty="0">
                <a:solidFill>
                  <a:srgbClr val="1F2430"/>
                </a:solidFill>
                <a:latin typeface="Calibri" pitchFamily="34" charset="0"/>
                <a:ea typeface="Calibri" pitchFamily="34" charset="-122"/>
                <a:cs typeface="Calibri" pitchFamily="34" charset="-120"/>
              </a:rPr>
              <a:t>Suggests pseudo-labels struggle with </a:t>
            </a:r>
            <a:r>
              <a:rPr lang="en-US" sz="1400" dirty="0" err="1">
                <a:solidFill>
                  <a:srgbClr val="1F2430"/>
                </a:solidFill>
                <a:latin typeface="Calibri" pitchFamily="34" charset="0"/>
                <a:ea typeface="Calibri" pitchFamily="34" charset="-122"/>
                <a:cs typeface="Calibri" pitchFamily="34" charset="-120"/>
              </a:rPr>
              <a:t>localisation</a:t>
            </a:r>
            <a:r>
              <a:rPr lang="en-US" sz="1400" dirty="0">
                <a:solidFill>
                  <a:srgbClr val="1F2430"/>
                </a:solidFill>
                <a:latin typeface="Calibri" pitchFamily="34" charset="0"/>
                <a:ea typeface="Calibri" pitchFamily="34" charset="-122"/>
                <a:cs typeface="Calibri" pitchFamily="34" charset="-120"/>
              </a:rPr>
              <a:t> vs detection</a:t>
            </a:r>
            <a:endParaRPr lang="en-US" sz="1400" dirty="0"/>
          </a:p>
        </p:txBody>
      </p:sp>
    </p:spTree>
    <p:extLst>
      <p:ext uri="{BB962C8B-B14F-4D97-AF65-F5344CB8AC3E}">
        <p14:creationId xmlns:p14="http://schemas.microsoft.com/office/powerpoint/2010/main" val="254725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Stage 2: Knowledge Distillation &amp; Training</a:t>
            </a:r>
            <a:endParaRPr lang="en-US" sz="3000" dirty="0"/>
          </a:p>
        </p:txBody>
      </p:sp>
      <p:pic>
        <p:nvPicPr>
          <p:cNvPr id="7" name="Image 0" descr="C:\Users\xiong\AppData\Local\Temp\claude\C--Users-xiong-Desktop-UM-MAI-2025-FYP-Part-2-Final-Code\2e03b641-b962-436d-91ad-a469587e5a9f\scratchpad\media\image7.jpg"/>
          <p:cNvPicPr>
            <a:picLocks noChangeAspect="1"/>
          </p:cNvPicPr>
          <p:nvPr/>
        </p:nvPicPr>
        <p:blipFill>
          <a:blip r:embed="rId3"/>
          <a:stretch>
            <a:fillRect/>
          </a:stretch>
        </p:blipFill>
        <p:spPr>
          <a:xfrm>
            <a:off x="793807" y="1898700"/>
            <a:ext cx="10604386" cy="3708470"/>
          </a:xfrm>
          <a:prstGeom prst="rect">
            <a:avLst/>
          </a:prstGeom>
        </p:spPr>
      </p:pic>
      <p:sp>
        <p:nvSpPr>
          <p:cNvPr id="12" name="Text 1">
            <a:extLst>
              <a:ext uri="{FF2B5EF4-FFF2-40B4-BE49-F238E27FC236}">
                <a16:creationId xmlns:a16="http://schemas.microsoft.com/office/drawing/2014/main" id="{F3E4D8AA-B498-23DA-E85A-132EA43D112F}"/>
              </a:ext>
            </a:extLst>
          </p:cNvPr>
          <p:cNvSpPr/>
          <p:nvPr/>
        </p:nvSpPr>
        <p:spPr>
          <a:xfrm>
            <a:off x="548640" y="877824"/>
            <a:ext cx="11094415" cy="310896"/>
          </a:xfrm>
          <a:prstGeom prst="rect">
            <a:avLst/>
          </a:prstGeom>
          <a:noFill/>
          <a:ln/>
        </p:spPr>
        <p:txBody>
          <a:bodyPr wrap="square" lIns="0" tIns="0" rIns="0" bIns="0" rtlCol="0" anchor="ctr"/>
          <a:lstStyle/>
          <a:p>
            <a:pPr marL="0" indent="0" algn="l">
              <a:buNone/>
            </a:pPr>
            <a:r>
              <a:rPr lang="en-US" sz="1400" dirty="0" err="1">
                <a:solidFill>
                  <a:srgbClr val="5C6472"/>
                </a:solidFill>
                <a:latin typeface="Calibri" pitchFamily="34" charset="0"/>
                <a:ea typeface="Calibri" pitchFamily="34" charset="-122"/>
                <a:cs typeface="Calibri" pitchFamily="34" charset="-120"/>
              </a:rPr>
              <a:t>Visualisation</a:t>
            </a:r>
            <a:r>
              <a:rPr lang="en-US" sz="1400" dirty="0">
                <a:solidFill>
                  <a:srgbClr val="5C6472"/>
                </a:solidFill>
                <a:latin typeface="Calibri" pitchFamily="34" charset="0"/>
                <a:ea typeface="Calibri" pitchFamily="34" charset="-122"/>
                <a:cs typeface="Calibri" pitchFamily="34" charset="-120"/>
              </a:rPr>
              <a:t> of test results after KD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3621436-CA1E-2EFC-43E3-2B02F94F8E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FDBBB28-4D27-0F5B-9AA9-53A7CF15A3F4}"/>
              </a:ext>
            </a:extLst>
          </p:cNvPr>
          <p:cNvSpPr/>
          <p:nvPr/>
        </p:nvSpPr>
        <p:spPr>
          <a:xfrm>
            <a:off x="548640" y="292608"/>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Stage 2: Hybrid human-pseudo labels</a:t>
            </a:r>
            <a:endParaRPr lang="en-US" sz="3000" dirty="0"/>
          </a:p>
        </p:txBody>
      </p:sp>
      <p:sp>
        <p:nvSpPr>
          <p:cNvPr id="3" name="Text 1">
            <a:extLst>
              <a:ext uri="{FF2B5EF4-FFF2-40B4-BE49-F238E27FC236}">
                <a16:creationId xmlns:a16="http://schemas.microsoft.com/office/drawing/2014/main" id="{571605B5-AE01-688B-016E-3CA986BFB7CC}"/>
              </a:ext>
            </a:extLst>
          </p:cNvPr>
          <p:cNvSpPr/>
          <p:nvPr/>
        </p:nvSpPr>
        <p:spPr>
          <a:xfrm>
            <a:off x="548640" y="877824"/>
            <a:ext cx="11094415" cy="310896"/>
          </a:xfrm>
          <a:prstGeom prst="rect">
            <a:avLst/>
          </a:prstGeom>
          <a:noFill/>
          <a:ln/>
        </p:spPr>
        <p:txBody>
          <a:bodyPr wrap="square" lIns="0" tIns="0" rIns="0" bIns="0" rtlCol="0" anchor="ctr"/>
          <a:lstStyle/>
          <a:p>
            <a:pPr marL="0" indent="0" algn="l">
              <a:buNone/>
            </a:pPr>
            <a:r>
              <a:rPr lang="en-US" sz="1400" dirty="0">
                <a:solidFill>
                  <a:srgbClr val="5C6472"/>
                </a:solidFill>
                <a:latin typeface="Calibri" pitchFamily="34" charset="0"/>
                <a:ea typeface="Calibri" pitchFamily="34" charset="-122"/>
                <a:cs typeface="Calibri" pitchFamily="34" charset="-120"/>
              </a:rPr>
              <a:t>A stratified fraction of human-labels is used to assess improvement vs pure pseudo-labels</a:t>
            </a:r>
            <a:endParaRPr lang="en-US" sz="1400" dirty="0"/>
          </a:p>
        </p:txBody>
      </p:sp>
      <p:graphicFrame>
        <p:nvGraphicFramePr>
          <p:cNvPr id="9" name="Table 0">
            <a:extLst>
              <a:ext uri="{FF2B5EF4-FFF2-40B4-BE49-F238E27FC236}">
                <a16:creationId xmlns:a16="http://schemas.microsoft.com/office/drawing/2014/main" id="{BB24E890-CD88-C47F-9900-29B762045DFF}"/>
              </a:ext>
            </a:extLst>
          </p:cNvPr>
          <p:cNvGraphicFramePr>
            <a:graphicFrameLocks noGrp="1"/>
          </p:cNvGraphicFramePr>
          <p:nvPr/>
        </p:nvGraphicFramePr>
        <p:xfrm>
          <a:off x="548640" y="1536192"/>
          <a:ext cx="11094415" cy="2194560"/>
        </p:xfrm>
        <a:graphic>
          <a:graphicData uri="http://schemas.openxmlformats.org/drawingml/2006/table">
            <a:tbl>
              <a:tblPr/>
              <a:tblGrid>
                <a:gridCol w="18288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2133295">
                  <a:extLst>
                    <a:ext uri="{9D8B030D-6E8A-4147-A177-3AD203B41FA5}">
                      <a16:colId xmlns:a16="http://schemas.microsoft.com/office/drawing/2014/main" val="20005"/>
                    </a:ext>
                  </a:extLst>
                </a:gridCol>
              </a:tblGrid>
              <a:tr h="438912">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Human labels</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Condition</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mAP@0.5</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mAP@[.5:.95]</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Gap recovered @0.5</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Gap recovered @[.5:.95]</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38912">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C@0.55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0.758</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0.420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CCCC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H10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CCCC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0.799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CCCC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0.449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CCCCFF"/>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33.0%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CCCCFF"/>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14.5%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CCCCFF"/>
                    </a:solidFill>
                  </a:tcPr>
                </a:tc>
                <a:extLst>
                  <a:ext uri="{0D108BD9-81ED-4DB2-BD59-A6C34878D82A}">
                    <a16:rowId xmlns:a16="http://schemas.microsoft.com/office/drawing/2014/main" val="10002"/>
                  </a:ext>
                </a:extLst>
              </a:tr>
              <a:tr h="438912">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CCCC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H25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CCCC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0.827</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CCCC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0.479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CCCCFF"/>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55.0%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CCCCFF"/>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29.5%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CCCCFF"/>
                    </a:solidFill>
                  </a:tcPr>
                </a:tc>
                <a:extLst>
                  <a:ext uri="{0D108BD9-81ED-4DB2-BD59-A6C34878D82A}">
                    <a16:rowId xmlns:a16="http://schemas.microsoft.com/office/drawing/2014/main" val="10003"/>
                  </a:ext>
                </a:extLst>
              </a:tr>
              <a:tr h="438912">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B</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0.883</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0.621</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extLst>
                  <a:ext uri="{0D108BD9-81ED-4DB2-BD59-A6C34878D82A}">
                    <a16:rowId xmlns:a16="http://schemas.microsoft.com/office/drawing/2014/main" val="10004"/>
                  </a:ext>
                </a:extLst>
              </a:tr>
            </a:tbl>
          </a:graphicData>
        </a:graphic>
      </p:graphicFrame>
      <p:sp>
        <p:nvSpPr>
          <p:cNvPr id="5" name="Text 2">
            <a:extLst>
              <a:ext uri="{FF2B5EF4-FFF2-40B4-BE49-F238E27FC236}">
                <a16:creationId xmlns:a16="http://schemas.microsoft.com/office/drawing/2014/main" id="{ABD871C9-8CD1-412E-7F67-154AB363099A}"/>
              </a:ext>
            </a:extLst>
          </p:cNvPr>
          <p:cNvSpPr/>
          <p:nvPr/>
        </p:nvSpPr>
        <p:spPr>
          <a:xfrm>
            <a:off x="548640" y="3840480"/>
            <a:ext cx="11094415" cy="256032"/>
          </a:xfrm>
          <a:prstGeom prst="rect">
            <a:avLst/>
          </a:prstGeom>
          <a:noFill/>
          <a:ln/>
        </p:spPr>
        <p:txBody>
          <a:bodyPr wrap="square" lIns="0" tIns="0" rIns="0" bIns="0" rtlCol="0" anchor="ctr"/>
          <a:lstStyle/>
          <a:p>
            <a:pPr marL="0" indent="0" algn="ctr">
              <a:buNone/>
            </a:pPr>
            <a:r>
              <a:rPr lang="en-US" sz="1200" i="1" dirty="0">
                <a:solidFill>
                  <a:srgbClr val="5C6472"/>
                </a:solidFill>
                <a:latin typeface="Calibri" pitchFamily="34" charset="0"/>
                <a:ea typeface="Calibri" pitchFamily="34" charset="-122"/>
                <a:cs typeface="Calibri" pitchFamily="34" charset="-120"/>
              </a:rPr>
              <a:t>Hybrid pseudo-label condition results</a:t>
            </a:r>
            <a:endParaRPr lang="en-US" sz="1200" dirty="0"/>
          </a:p>
        </p:txBody>
      </p:sp>
      <p:sp>
        <p:nvSpPr>
          <p:cNvPr id="6" name="Text 3">
            <a:extLst>
              <a:ext uri="{FF2B5EF4-FFF2-40B4-BE49-F238E27FC236}">
                <a16:creationId xmlns:a16="http://schemas.microsoft.com/office/drawing/2014/main" id="{98F65AFE-5F9C-663A-A7D2-7EFECD22E050}"/>
              </a:ext>
            </a:extLst>
          </p:cNvPr>
          <p:cNvSpPr/>
          <p:nvPr/>
        </p:nvSpPr>
        <p:spPr>
          <a:xfrm>
            <a:off x="548640" y="4315968"/>
            <a:ext cx="11094415" cy="1920240"/>
          </a:xfrm>
          <a:prstGeom prst="rect">
            <a:avLst/>
          </a:prstGeom>
          <a:noFill/>
          <a:ln/>
        </p:spPr>
        <p:txBody>
          <a:bodyPr wrap="square" lIns="0" tIns="0" rIns="0" bIns="0" rtlCol="0" anchor="t"/>
          <a:lstStyle/>
          <a:p>
            <a:pPr marL="342900" indent="-342900">
              <a:spcAft>
                <a:spcPts val="1800"/>
              </a:spcAft>
              <a:buSzPct val="100000"/>
              <a:buChar char="•"/>
            </a:pPr>
            <a:r>
              <a:rPr lang="en-US" sz="1500" dirty="0">
                <a:solidFill>
                  <a:srgbClr val="1F2430"/>
                </a:solidFill>
                <a:latin typeface="Calibri" pitchFamily="34" charset="0"/>
                <a:ea typeface="Calibri" pitchFamily="34" charset="-122"/>
                <a:cs typeface="Calibri" pitchFamily="34" charset="-120"/>
              </a:rPr>
              <a:t>Human labels recover the performance gap at a non-linear improvement</a:t>
            </a:r>
            <a:endParaRPr lang="en-US" sz="1500" dirty="0"/>
          </a:p>
          <a:p>
            <a:pPr marL="342900" indent="-342900">
              <a:spcAft>
                <a:spcPts val="1800"/>
              </a:spcAft>
              <a:buSzPct val="100000"/>
              <a:buChar char="•"/>
            </a:pPr>
            <a:r>
              <a:rPr lang="en-US" sz="1500" dirty="0">
                <a:solidFill>
                  <a:srgbClr val="1F2430"/>
                </a:solidFill>
                <a:latin typeface="Calibri" pitchFamily="34" charset="0"/>
                <a:ea typeface="Calibri" pitchFamily="34" charset="-122"/>
                <a:cs typeface="Calibri" pitchFamily="34" charset="-120"/>
              </a:rPr>
              <a:t>Effect more pronounced for mAP@0.5, versus </a:t>
            </a:r>
            <a:r>
              <a:rPr lang="en-US" sz="1500" dirty="0" err="1">
                <a:solidFill>
                  <a:srgbClr val="1F2430"/>
                </a:solidFill>
                <a:latin typeface="Calibri" pitchFamily="34" charset="0"/>
                <a:ea typeface="Calibri" pitchFamily="34" charset="-122"/>
                <a:cs typeface="Calibri" pitchFamily="34" charset="-120"/>
                <a:hlinkClick r:id="rId3"/>
              </a:rPr>
              <a:t>mAP</a:t>
            </a:r>
            <a:r>
              <a:rPr lang="en-US" sz="1500" dirty="0">
                <a:solidFill>
                  <a:srgbClr val="1F2430"/>
                </a:solidFill>
                <a:latin typeface="Calibri" pitchFamily="34" charset="0"/>
                <a:ea typeface="Calibri" pitchFamily="34" charset="-122"/>
                <a:cs typeface="Calibri" pitchFamily="34" charset="-120"/>
                <a:hlinkClick r:id="rId3"/>
              </a:rPr>
              <a:t>@[.5:.95</a:t>
            </a:r>
            <a:r>
              <a:rPr lang="en-US" sz="1500" dirty="0">
                <a:solidFill>
                  <a:srgbClr val="1F2430"/>
                </a:solidFill>
                <a:latin typeface="Calibri" pitchFamily="34" charset="0"/>
                <a:ea typeface="Calibri" pitchFamily="34" charset="-122"/>
                <a:cs typeface="Calibri" pitchFamily="34" charset="-120"/>
              </a:rPr>
              <a:t>]</a:t>
            </a:r>
          </a:p>
          <a:p>
            <a:pPr marL="342900" indent="-342900">
              <a:spcAft>
                <a:spcPts val="1800"/>
              </a:spcAft>
              <a:buSzPct val="100000"/>
              <a:buChar char="•"/>
            </a:pPr>
            <a:r>
              <a:rPr lang="en-MY" sz="1500" dirty="0"/>
              <a:t>A quarter of the human-labelled images supplies 4,700 of 14,795 bounding boxes for H25, human-labelled images are more densely annotated</a:t>
            </a:r>
            <a:endParaRPr lang="en-US" sz="1500" dirty="0"/>
          </a:p>
        </p:txBody>
      </p:sp>
    </p:spTree>
    <p:extLst>
      <p:ext uri="{BB962C8B-B14F-4D97-AF65-F5344CB8AC3E}">
        <p14:creationId xmlns:p14="http://schemas.microsoft.com/office/powerpoint/2010/main" val="87267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Stage 3: Performance Evaluation</a:t>
            </a:r>
            <a:endParaRPr lang="en-US" sz="3000" dirty="0"/>
          </a:p>
        </p:txBody>
      </p:sp>
      <p:sp>
        <p:nvSpPr>
          <p:cNvPr id="3" name="Text 1"/>
          <p:cNvSpPr/>
          <p:nvPr/>
        </p:nvSpPr>
        <p:spPr>
          <a:xfrm>
            <a:off x="548640" y="877823"/>
            <a:ext cx="11094415" cy="761195"/>
          </a:xfrm>
          <a:prstGeom prst="rect">
            <a:avLst/>
          </a:prstGeom>
          <a:noFill/>
          <a:ln/>
        </p:spPr>
        <p:txBody>
          <a:bodyPr wrap="square" lIns="0" tIns="0" rIns="0" bIns="0" rtlCol="0" anchor="ctr"/>
          <a:lstStyle/>
          <a:p>
            <a:pPr marL="0" indent="0" algn="l">
              <a:buNone/>
            </a:pPr>
            <a:r>
              <a:rPr lang="en-US" sz="1400" dirty="0">
                <a:solidFill>
                  <a:srgbClr val="5C6472"/>
                </a:solidFill>
                <a:latin typeface="Calibri" pitchFamily="34" charset="0"/>
                <a:ea typeface="Calibri" pitchFamily="34" charset="-122"/>
                <a:cs typeface="Calibri" pitchFamily="34" charset="-120"/>
              </a:rPr>
              <a:t>Performance versus zero-shot COCO pre-trained RF-DETR. </a:t>
            </a:r>
          </a:p>
          <a:p>
            <a:pPr marL="0" indent="0" algn="l">
              <a:buNone/>
            </a:pPr>
            <a:endParaRPr lang="en-US" sz="1400" dirty="0">
              <a:solidFill>
                <a:srgbClr val="5C6472"/>
              </a:solidFill>
              <a:latin typeface="Calibri" pitchFamily="34" charset="0"/>
              <a:ea typeface="Calibri" pitchFamily="34" charset="-122"/>
              <a:cs typeface="Calibri" pitchFamily="34" charset="-120"/>
            </a:endParaRPr>
          </a:p>
          <a:p>
            <a:pPr marL="0" indent="0" algn="l">
              <a:buNone/>
            </a:pPr>
            <a:r>
              <a:rPr lang="en-US" sz="1400" dirty="0">
                <a:solidFill>
                  <a:srgbClr val="5C6472"/>
                </a:solidFill>
                <a:latin typeface="Calibri" pitchFamily="34" charset="0"/>
                <a:ea typeface="Calibri" pitchFamily="34" charset="-122"/>
                <a:cs typeface="Calibri" pitchFamily="34" charset="-120"/>
              </a:rPr>
              <a:t>Pseudo-label contribution is lesser than expected, and human labels improve </a:t>
            </a:r>
            <a:r>
              <a:rPr lang="en-US" sz="1400" dirty="0" err="1">
                <a:solidFill>
                  <a:srgbClr val="5C6472"/>
                </a:solidFill>
                <a:latin typeface="Calibri" pitchFamily="34" charset="0"/>
                <a:ea typeface="Calibri" pitchFamily="34" charset="-122"/>
                <a:cs typeface="Calibri" pitchFamily="34" charset="-120"/>
              </a:rPr>
              <a:t>mAP</a:t>
            </a:r>
            <a:r>
              <a:rPr lang="en-US" sz="1400" dirty="0">
                <a:solidFill>
                  <a:srgbClr val="5C6472"/>
                </a:solidFill>
                <a:latin typeface="Calibri" pitchFamily="34" charset="0"/>
                <a:ea typeface="Calibri" pitchFamily="34" charset="-122"/>
                <a:cs typeface="Calibri" pitchFamily="34" charset="-120"/>
              </a:rPr>
              <a:t>@[.5:.95] by up to 58%</a:t>
            </a:r>
            <a:endParaRPr lang="en-US" sz="1400" dirty="0"/>
          </a:p>
        </p:txBody>
      </p:sp>
      <p:pic>
        <p:nvPicPr>
          <p:cNvPr id="4" name="Image 0" descr="C:\Users\xiong\AppData\Local\Temp\claude\C--Users-xiong-Desktop-UM-MAI-2025-FYP-Part-2-Final-Code\2e03b641-b962-436d-91ad-a469587e5a9f\scratchpad\media\image9.jpg"/>
          <p:cNvPicPr>
            <a:picLocks noChangeAspect="1"/>
          </p:cNvPicPr>
          <p:nvPr/>
        </p:nvPicPr>
        <p:blipFill>
          <a:blip r:embed="rId3"/>
          <a:srcRect r="50312"/>
          <a:stretch>
            <a:fillRect/>
          </a:stretch>
        </p:blipFill>
        <p:spPr>
          <a:xfrm>
            <a:off x="6095847" y="2182480"/>
            <a:ext cx="5258176" cy="3700733"/>
          </a:xfrm>
          <a:prstGeom prst="rect">
            <a:avLst/>
          </a:prstGeom>
        </p:spPr>
      </p:pic>
      <p:pic>
        <p:nvPicPr>
          <p:cNvPr id="16" name="Image 0" descr="C:\Users\xiong\AppData\Local\Temp\claude\C--Users-xiong-Desktop-UM-MAI-2025-FYP-Part-2-Final-Code\2e03b641-b962-436d-91ad-a469587e5a9f\scratchpad\media\image9.jpg">
            <a:extLst>
              <a:ext uri="{FF2B5EF4-FFF2-40B4-BE49-F238E27FC236}">
                <a16:creationId xmlns:a16="http://schemas.microsoft.com/office/drawing/2014/main" id="{AF86684D-0738-9EBF-0DA3-15A175939496}"/>
              </a:ext>
            </a:extLst>
          </p:cNvPr>
          <p:cNvPicPr>
            <a:picLocks noChangeAspect="1"/>
          </p:cNvPicPr>
          <p:nvPr/>
        </p:nvPicPr>
        <p:blipFill>
          <a:blip r:embed="rId3"/>
          <a:srcRect l="50312"/>
          <a:stretch>
            <a:fillRect/>
          </a:stretch>
        </p:blipFill>
        <p:spPr>
          <a:xfrm>
            <a:off x="424045" y="2182481"/>
            <a:ext cx="5258176" cy="370073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B9BE83F-3974-17D3-39FA-666CAB59E35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FA22A1F-8434-3214-A3CA-3BEBFB4A4F60}"/>
              </a:ext>
            </a:extLst>
          </p:cNvPr>
          <p:cNvSpPr/>
          <p:nvPr/>
        </p:nvSpPr>
        <p:spPr>
          <a:xfrm>
            <a:off x="548641" y="292608"/>
            <a:ext cx="6231722"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Stage 3: Performance Evaluation</a:t>
            </a:r>
            <a:endParaRPr lang="en-US" sz="3000" dirty="0"/>
          </a:p>
        </p:txBody>
      </p:sp>
      <p:sp>
        <p:nvSpPr>
          <p:cNvPr id="3" name="Text 1">
            <a:extLst>
              <a:ext uri="{FF2B5EF4-FFF2-40B4-BE49-F238E27FC236}">
                <a16:creationId xmlns:a16="http://schemas.microsoft.com/office/drawing/2014/main" id="{5D591365-70AB-BC1F-8BDA-72CB9A7DECE0}"/>
              </a:ext>
            </a:extLst>
          </p:cNvPr>
          <p:cNvSpPr/>
          <p:nvPr/>
        </p:nvSpPr>
        <p:spPr>
          <a:xfrm>
            <a:off x="548641" y="877823"/>
            <a:ext cx="4747979" cy="260864"/>
          </a:xfrm>
          <a:prstGeom prst="rect">
            <a:avLst/>
          </a:prstGeom>
          <a:noFill/>
          <a:ln/>
        </p:spPr>
        <p:txBody>
          <a:bodyPr wrap="square" lIns="0" tIns="0" rIns="0" bIns="0" rtlCol="0" anchor="ctr"/>
          <a:lstStyle/>
          <a:p>
            <a:pPr marL="0" indent="0" algn="l">
              <a:buNone/>
            </a:pPr>
            <a:r>
              <a:rPr lang="en-US" sz="1400" dirty="0">
                <a:solidFill>
                  <a:srgbClr val="5C6472"/>
                </a:solidFill>
                <a:latin typeface="Calibri" pitchFamily="34" charset="0"/>
                <a:ea typeface="Calibri" pitchFamily="34" charset="-122"/>
                <a:cs typeface="Calibri" pitchFamily="34" charset="-120"/>
              </a:rPr>
              <a:t>Per-class AP comparison</a:t>
            </a:r>
            <a:endParaRPr lang="en-US" sz="1400" dirty="0"/>
          </a:p>
        </p:txBody>
      </p:sp>
      <p:pic>
        <p:nvPicPr>
          <p:cNvPr id="5" name="Picture 4">
            <a:extLst>
              <a:ext uri="{FF2B5EF4-FFF2-40B4-BE49-F238E27FC236}">
                <a16:creationId xmlns:a16="http://schemas.microsoft.com/office/drawing/2014/main" id="{07E90B34-7952-EAFB-6CC0-9E8F732F61CC}"/>
              </a:ext>
            </a:extLst>
          </p:cNvPr>
          <p:cNvPicPr>
            <a:picLocks noChangeAspect="1"/>
          </p:cNvPicPr>
          <p:nvPr/>
        </p:nvPicPr>
        <p:blipFill rotWithShape="1">
          <a:blip r:embed="rId3"/>
          <a:srcRect t="49730"/>
          <a:stretch>
            <a:fillRect/>
          </a:stretch>
        </p:blipFill>
        <p:spPr bwMode="auto">
          <a:xfrm>
            <a:off x="5462602" y="877823"/>
            <a:ext cx="6304619" cy="2877911"/>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237492C0-24BB-54A2-2B11-D7DBE5B1E454}"/>
              </a:ext>
            </a:extLst>
          </p:cNvPr>
          <p:cNvPicPr>
            <a:picLocks noChangeAspect="1"/>
          </p:cNvPicPr>
          <p:nvPr/>
        </p:nvPicPr>
        <p:blipFill rotWithShape="1">
          <a:blip r:embed="rId3"/>
          <a:srcRect b="50314"/>
          <a:stretch>
            <a:fillRect/>
          </a:stretch>
        </p:blipFill>
        <p:spPr bwMode="auto">
          <a:xfrm>
            <a:off x="5462602" y="3774021"/>
            <a:ext cx="6304618" cy="2844133"/>
          </a:xfrm>
          <a:prstGeom prst="rect">
            <a:avLst/>
          </a:prstGeom>
          <a:ln>
            <a:noFill/>
          </a:ln>
          <a:extLst>
            <a:ext uri="{53640926-AAD7-44D8-BBD7-CCE9431645EC}">
              <a14:shadowObscured xmlns:a14="http://schemas.microsoft.com/office/drawing/2010/main"/>
            </a:ext>
          </a:extLst>
        </p:spPr>
      </p:pic>
      <p:sp>
        <p:nvSpPr>
          <p:cNvPr id="8" name="Text 3">
            <a:extLst>
              <a:ext uri="{FF2B5EF4-FFF2-40B4-BE49-F238E27FC236}">
                <a16:creationId xmlns:a16="http://schemas.microsoft.com/office/drawing/2014/main" id="{1A0CF6BD-721F-0CB3-6E59-9C73473E6E05}"/>
              </a:ext>
            </a:extLst>
          </p:cNvPr>
          <p:cNvSpPr/>
          <p:nvPr/>
        </p:nvSpPr>
        <p:spPr>
          <a:xfrm>
            <a:off x="548641" y="1508759"/>
            <a:ext cx="4273525" cy="3287527"/>
          </a:xfrm>
          <a:prstGeom prst="rect">
            <a:avLst/>
          </a:prstGeom>
          <a:noFill/>
          <a:ln/>
        </p:spPr>
        <p:txBody>
          <a:bodyPr wrap="square" lIns="0" tIns="0" rIns="0" bIns="0" rtlCol="0" anchor="t"/>
          <a:lstStyle/>
          <a:p>
            <a:pPr marL="342900" indent="-342900">
              <a:spcAft>
                <a:spcPts val="1800"/>
              </a:spcAft>
              <a:buSzPct val="100000"/>
              <a:buChar char="•"/>
            </a:pPr>
            <a:r>
              <a:rPr lang="en-US" sz="1400" dirty="0">
                <a:solidFill>
                  <a:srgbClr val="1F2430"/>
                </a:solidFill>
                <a:latin typeface="Calibri" pitchFamily="34" charset="0"/>
                <a:ea typeface="Calibri" pitchFamily="34" charset="-122"/>
                <a:cs typeface="Calibri" pitchFamily="34" charset="-120"/>
              </a:rPr>
              <a:t>Pseudo-label gains not distributed evenly across classes</a:t>
            </a:r>
          </a:p>
          <a:p>
            <a:pPr marL="342900" indent="-342900">
              <a:spcAft>
                <a:spcPts val="1800"/>
              </a:spcAft>
              <a:buSzPct val="100000"/>
              <a:buChar char="•"/>
            </a:pPr>
            <a:r>
              <a:rPr lang="en-US" sz="1400" dirty="0">
                <a:solidFill>
                  <a:srgbClr val="1F2430"/>
                </a:solidFill>
                <a:latin typeface="Calibri" pitchFamily="34" charset="0"/>
                <a:ea typeface="Calibri" pitchFamily="34" charset="-122"/>
                <a:cs typeface="Calibri" pitchFamily="34" charset="-120"/>
              </a:rPr>
              <a:t>Improvement from hybrid labels biggest for Table, which is YOLO-World teacher’s weakest class</a:t>
            </a:r>
            <a:endParaRPr lang="en-US" sz="1400" dirty="0"/>
          </a:p>
        </p:txBody>
      </p:sp>
    </p:spTree>
    <p:extLst>
      <p:ext uri="{BB962C8B-B14F-4D97-AF65-F5344CB8AC3E}">
        <p14:creationId xmlns:p14="http://schemas.microsoft.com/office/powerpoint/2010/main" val="3755619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Stage 3: Box tightness evaluation</a:t>
            </a:r>
            <a:endParaRPr lang="en-US" sz="3000" dirty="0"/>
          </a:p>
        </p:txBody>
      </p:sp>
      <p:sp>
        <p:nvSpPr>
          <p:cNvPr id="3" name="Text 1"/>
          <p:cNvSpPr/>
          <p:nvPr/>
        </p:nvSpPr>
        <p:spPr>
          <a:xfrm>
            <a:off x="548640" y="877824"/>
            <a:ext cx="11094415" cy="310896"/>
          </a:xfrm>
          <a:prstGeom prst="rect">
            <a:avLst/>
          </a:prstGeom>
          <a:noFill/>
          <a:ln/>
        </p:spPr>
        <p:txBody>
          <a:bodyPr wrap="square" lIns="0" tIns="0" rIns="0" bIns="0" rtlCol="0" anchor="ctr"/>
          <a:lstStyle/>
          <a:p>
            <a:pPr marL="0" indent="0" algn="l">
              <a:buNone/>
            </a:pPr>
            <a:r>
              <a:rPr lang="en-US" sz="1400" dirty="0">
                <a:solidFill>
                  <a:srgbClr val="5C6472"/>
                </a:solidFill>
                <a:latin typeface="Calibri" pitchFamily="34" charset="0"/>
                <a:ea typeface="Calibri" pitchFamily="34" charset="-122"/>
                <a:cs typeface="Calibri" pitchFamily="34" charset="-120"/>
              </a:rPr>
              <a:t>Box geometry for every matched detection, against the ExDark ground truth</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44752"/>
          <a:ext cx="5669280" cy="2529840"/>
        </p:xfrm>
        <a:graphic>
          <a:graphicData uri="http://schemas.openxmlformats.org/drawingml/2006/table">
            <a:tbl>
              <a:tblPr/>
              <a:tblGrid>
                <a:gridCol w="23774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11480">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Condition</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 tighter than GT</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Median GT / pred area</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11480">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Zero-shot · raw</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C77A18"/>
                          </a:solidFill>
                          <a:latin typeface="Calibri" pitchFamily="34" charset="0"/>
                          <a:ea typeface="Calibri" pitchFamily="34" charset="-122"/>
                          <a:cs typeface="Calibri" pitchFamily="34" charset="-120"/>
                        </a:rPr>
                        <a:t>38.4</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1.192</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C@0.55 · pseudo</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b="1" dirty="0">
                          <a:solidFill>
                            <a:srgbClr val="C77A18"/>
                          </a:solidFill>
                          <a:latin typeface="Calibri" pitchFamily="34" charset="0"/>
                          <a:ea typeface="Calibri" pitchFamily="34" charset="-122"/>
                          <a:cs typeface="Calibri" pitchFamily="34" charset="-120"/>
                        </a:rPr>
                        <a:t>32.7</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1.158</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extLst>
                  <a:ext uri="{0D108BD9-81ED-4DB2-BD59-A6C34878D82A}">
                    <a16:rowId xmlns:a16="http://schemas.microsoft.com/office/drawing/2014/main" val="10002"/>
                  </a:ext>
                </a:extLst>
              </a:tr>
              <a:tr h="411480">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H25 · hybrid</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27.9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1.138</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B · enhanced + human</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6.2</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0.994</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extLst>
                  <a:ext uri="{0D108BD9-81ED-4DB2-BD59-A6C34878D82A}">
                    <a16:rowId xmlns:a16="http://schemas.microsoft.com/office/drawing/2014/main" val="10004"/>
                  </a:ext>
                </a:extLst>
              </a:tr>
              <a:tr h="411480">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A · raw + human</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0.994</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51689" y="4361688"/>
            <a:ext cx="5148072" cy="2103120"/>
          </a:xfrm>
          <a:prstGeom prst="rect">
            <a:avLst/>
          </a:prstGeom>
          <a:noFill/>
          <a:ln/>
        </p:spPr>
        <p:txBody>
          <a:bodyPr wrap="square" lIns="0" tIns="0" rIns="0" bIns="0" rtlCol="0" anchor="t"/>
          <a:lstStyle/>
          <a:p>
            <a:pPr marL="342900" indent="-342900">
              <a:spcAft>
                <a:spcPts val="1600"/>
              </a:spcAft>
              <a:buSzPct val="100000"/>
              <a:buChar char="•"/>
            </a:pPr>
            <a:r>
              <a:rPr lang="en-US" sz="1450" dirty="0">
                <a:solidFill>
                  <a:srgbClr val="1F2430"/>
                </a:solidFill>
                <a:latin typeface="Calibri" pitchFamily="34" charset="0"/>
                <a:ea typeface="Calibri" pitchFamily="34" charset="-122"/>
                <a:cs typeface="Calibri" pitchFamily="34" charset="-120"/>
              </a:rPr>
              <a:t>The untrained model draws the tighter box 38.4% of the time</a:t>
            </a:r>
            <a:endParaRPr lang="en-US" sz="1450" dirty="0"/>
          </a:p>
          <a:p>
            <a:pPr marL="342900" indent="-342900">
              <a:spcAft>
                <a:spcPts val="1600"/>
              </a:spcAft>
              <a:buSzPct val="100000"/>
              <a:buChar char="•"/>
            </a:pPr>
            <a:r>
              <a:rPr lang="en-US" sz="1450" dirty="0">
                <a:solidFill>
                  <a:srgbClr val="1F2430"/>
                </a:solidFill>
                <a:latin typeface="Calibri" pitchFamily="34" charset="0"/>
                <a:ea typeface="Calibri" pitchFamily="34" charset="-122"/>
                <a:cs typeface="Calibri" pitchFamily="34" charset="-120"/>
              </a:rPr>
              <a:t>That falls to 32.7% after pseudo-labels, and to 5.9% under human labels</a:t>
            </a:r>
          </a:p>
          <a:p>
            <a:pPr marL="342900" indent="-342900">
              <a:spcAft>
                <a:spcPts val="1600"/>
              </a:spcAft>
              <a:buSzPct val="100000"/>
              <a:buChar char="•"/>
            </a:pPr>
            <a:r>
              <a:rPr lang="en-MY" sz="1450" dirty="0"/>
              <a:t>Part of the strict-metric penalty is a difference in annotation convention, not a detection failure. </a:t>
            </a:r>
            <a:endParaRPr lang="en-US" sz="1450" dirty="0"/>
          </a:p>
        </p:txBody>
      </p:sp>
      <p:pic>
        <p:nvPicPr>
          <p:cNvPr id="4" name="Picture 3">
            <a:extLst>
              <a:ext uri="{FF2B5EF4-FFF2-40B4-BE49-F238E27FC236}">
                <a16:creationId xmlns:a16="http://schemas.microsoft.com/office/drawing/2014/main" id="{45A9500D-EC44-6C51-921A-767DEEBC5912}"/>
              </a:ext>
            </a:extLst>
          </p:cNvPr>
          <p:cNvPicPr>
            <a:picLocks noChangeAspect="1"/>
          </p:cNvPicPr>
          <p:nvPr/>
        </p:nvPicPr>
        <p:blipFill>
          <a:blip r:embed="rId3"/>
          <a:srcRect t="27553" r="33169"/>
          <a:stretch>
            <a:fillRect/>
          </a:stretch>
        </p:blipFill>
        <p:spPr>
          <a:xfrm>
            <a:off x="6599208" y="0"/>
            <a:ext cx="5514882" cy="681557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65826"/>
            <a:ext cx="4480560"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Stage 3: Additional enhancer probe</a:t>
            </a:r>
            <a:endParaRPr lang="en-US" sz="3000" dirty="0"/>
          </a:p>
        </p:txBody>
      </p:sp>
      <p:sp>
        <p:nvSpPr>
          <p:cNvPr id="3" name="Text 1"/>
          <p:cNvSpPr/>
          <p:nvPr/>
        </p:nvSpPr>
        <p:spPr>
          <a:xfrm>
            <a:off x="548640" y="1205972"/>
            <a:ext cx="4480560" cy="512064"/>
          </a:xfrm>
          <a:prstGeom prst="rect">
            <a:avLst/>
          </a:prstGeom>
          <a:noFill/>
          <a:ln/>
        </p:spPr>
        <p:txBody>
          <a:bodyPr wrap="square" lIns="0" tIns="0" rIns="0" bIns="0" rtlCol="0" anchor="ctr"/>
          <a:lstStyle/>
          <a:p>
            <a:pPr marL="0" indent="0" algn="l">
              <a:buNone/>
            </a:pPr>
            <a:r>
              <a:rPr lang="en-US" sz="1400" dirty="0">
                <a:solidFill>
                  <a:srgbClr val="5C6472"/>
                </a:solidFill>
                <a:latin typeface="Calibri" pitchFamily="34" charset="0"/>
                <a:ea typeface="Calibri" pitchFamily="34" charset="-122"/>
                <a:cs typeface="Calibri" pitchFamily="34" charset="-120"/>
              </a:rPr>
              <a:t>Stratified sample to confirm effect of enhancement, across 3 different methods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3162066145"/>
              </p:ext>
            </p:extLst>
          </p:nvPr>
        </p:nvGraphicFramePr>
        <p:xfrm>
          <a:off x="548639" y="1791188"/>
          <a:ext cx="4480560" cy="2304288"/>
        </p:xfrm>
        <a:graphic>
          <a:graphicData uri="http://schemas.openxmlformats.org/drawingml/2006/table">
            <a:tbl>
              <a:tblPr/>
              <a:tblGrid>
                <a:gridCol w="1645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20624">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Condition</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mAP@0.5</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mAP@[.5:.95]</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20624">
                <a:tc>
                  <a:txBody>
                    <a:bodyPr/>
                    <a:lstStyle/>
                    <a:p>
                      <a:pPr marL="0" indent="0" algn="l">
                        <a:buNone/>
                      </a:pPr>
                      <a:r>
                        <a:rPr lang="en-US" sz="1300" b="1" dirty="0">
                          <a:solidFill>
                            <a:srgbClr val="1F2430"/>
                          </a:solidFill>
                          <a:latin typeface="Calibri" pitchFamily="34" charset="0"/>
                          <a:ea typeface="Calibri" pitchFamily="34" charset="-122"/>
                          <a:cs typeface="Calibri" pitchFamily="34" charset="-120"/>
                        </a:rPr>
                        <a:t>raw</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0.8380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0.5722</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CLAHE (Histogram </a:t>
                      </a:r>
                      <a:r>
                        <a:rPr lang="en-US" sz="1300" dirty="0" err="1">
                          <a:solidFill>
                            <a:srgbClr val="1F2430"/>
                          </a:solidFill>
                          <a:latin typeface="Calibri" pitchFamily="34" charset="0"/>
                          <a:ea typeface="Calibri" pitchFamily="34" charset="-122"/>
                          <a:cs typeface="Calibri" pitchFamily="34" charset="-120"/>
                        </a:rPr>
                        <a:t>equalisation</a:t>
                      </a:r>
                      <a:r>
                        <a:rPr lang="en-US" sz="1300" dirty="0">
                          <a:solidFill>
                            <a:srgbClr val="1F243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0.8346</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0.5677</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extLst>
                  <a:ext uri="{0D108BD9-81ED-4DB2-BD59-A6C34878D82A}">
                    <a16:rowId xmlns:a16="http://schemas.microsoft.com/office/drawing/2014/main" val="10002"/>
                  </a:ext>
                </a:extLst>
              </a:tr>
              <a:tr h="420624">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SCI (</a:t>
                      </a:r>
                      <a:r>
                        <a:rPr lang="en-US" sz="1300" dirty="0" err="1">
                          <a:solidFill>
                            <a:srgbClr val="1F2430"/>
                          </a:solidFill>
                          <a:latin typeface="Calibri" pitchFamily="34" charset="0"/>
                          <a:ea typeface="Calibri" pitchFamily="34" charset="-122"/>
                          <a:cs typeface="Calibri" pitchFamily="34" charset="-120"/>
                        </a:rPr>
                        <a:t>Retinex</a:t>
                      </a:r>
                      <a:r>
                        <a:rPr lang="en-US" sz="1300" dirty="0">
                          <a:solidFill>
                            <a:srgbClr val="1F2430"/>
                          </a:solidFill>
                          <a:latin typeface="Calibri" pitchFamily="34" charset="0"/>
                          <a:ea typeface="Calibri" pitchFamily="34" charset="-122"/>
                          <a:cs typeface="Calibri" pitchFamily="34" charset="-120"/>
                        </a:rPr>
                        <a:t> based illumination)</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0.8295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0.5644</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Zero-DCE (Our enhancement)</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0.8252</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0.5631</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extLst>
                  <a:ext uri="{0D108BD9-81ED-4DB2-BD59-A6C34878D82A}">
                    <a16:rowId xmlns:a16="http://schemas.microsoft.com/office/drawing/2014/main" val="10004"/>
                  </a:ext>
                </a:extLst>
              </a:tr>
            </a:tbl>
          </a:graphicData>
        </a:graphic>
      </p:graphicFrame>
      <p:sp>
        <p:nvSpPr>
          <p:cNvPr id="6" name="Text 3"/>
          <p:cNvSpPr/>
          <p:nvPr/>
        </p:nvSpPr>
        <p:spPr>
          <a:xfrm>
            <a:off x="548640" y="4283705"/>
            <a:ext cx="4480560" cy="1920240"/>
          </a:xfrm>
          <a:prstGeom prst="rect">
            <a:avLst/>
          </a:prstGeom>
          <a:noFill/>
          <a:ln/>
        </p:spPr>
        <p:txBody>
          <a:bodyPr wrap="square" lIns="0" tIns="0" rIns="0" bIns="0" rtlCol="0" anchor="t"/>
          <a:lstStyle/>
          <a:p>
            <a:pPr marL="342900" indent="-342900">
              <a:spcAft>
                <a:spcPts val="1800"/>
              </a:spcAft>
              <a:buSzPct val="100000"/>
              <a:buChar char="•"/>
            </a:pPr>
            <a:r>
              <a:rPr lang="en-US" sz="1500" dirty="0">
                <a:solidFill>
                  <a:srgbClr val="1F2430"/>
                </a:solidFill>
                <a:latin typeface="Calibri" pitchFamily="34" charset="0"/>
                <a:ea typeface="Calibri" pitchFamily="34" charset="-122"/>
                <a:cs typeface="Calibri" pitchFamily="34" charset="-120"/>
              </a:rPr>
              <a:t>Every enhancement method performs below raw condition</a:t>
            </a:r>
          </a:p>
          <a:p>
            <a:pPr marL="342900" indent="-342900">
              <a:spcAft>
                <a:spcPts val="1800"/>
              </a:spcAft>
              <a:buSzPct val="100000"/>
              <a:buChar char="•"/>
            </a:pPr>
            <a:r>
              <a:rPr lang="en-US" sz="1500" dirty="0">
                <a:solidFill>
                  <a:srgbClr val="1F2430"/>
                </a:solidFill>
                <a:latin typeface="Calibri" pitchFamily="34" charset="0"/>
                <a:ea typeface="Calibri" pitchFamily="34" charset="-122"/>
                <a:cs typeface="Calibri" pitchFamily="34" charset="-120"/>
              </a:rPr>
              <a:t>In some scenarios, enhancements surface labels that are missed by raw and ground truth (133), however 118 are of confidence &lt;0.50</a:t>
            </a:r>
            <a:endParaRPr lang="en-US" sz="1500" dirty="0"/>
          </a:p>
        </p:txBody>
      </p:sp>
      <p:pic>
        <p:nvPicPr>
          <p:cNvPr id="4" name="Picture 3">
            <a:extLst>
              <a:ext uri="{FF2B5EF4-FFF2-40B4-BE49-F238E27FC236}">
                <a16:creationId xmlns:a16="http://schemas.microsoft.com/office/drawing/2014/main" id="{C9287FC0-1FD8-84CC-1CF4-C80C5A1D0106}"/>
              </a:ext>
            </a:extLst>
          </p:cNvPr>
          <p:cNvPicPr>
            <a:picLocks noChangeAspect="1"/>
          </p:cNvPicPr>
          <p:nvPr/>
        </p:nvPicPr>
        <p:blipFill>
          <a:blip r:embed="rId3"/>
          <a:srcRect l="2336" t="10937"/>
          <a:stretch>
            <a:fillRect/>
          </a:stretch>
        </p:blipFill>
        <p:spPr>
          <a:xfrm>
            <a:off x="4963552" y="379562"/>
            <a:ext cx="7228448" cy="601261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Stage 3: Comparison vs published ExDark results</a:t>
            </a:r>
            <a:endParaRPr lang="en-US" sz="3000" dirty="0"/>
          </a:p>
        </p:txBody>
      </p:sp>
      <p:sp>
        <p:nvSpPr>
          <p:cNvPr id="3" name="Text 1"/>
          <p:cNvSpPr/>
          <p:nvPr/>
        </p:nvSpPr>
        <p:spPr>
          <a:xfrm>
            <a:off x="548640" y="877824"/>
            <a:ext cx="11094415" cy="310896"/>
          </a:xfrm>
          <a:prstGeom prst="rect">
            <a:avLst/>
          </a:prstGeom>
          <a:noFill/>
          <a:ln/>
        </p:spPr>
        <p:txBody>
          <a:bodyPr wrap="square" lIns="0" tIns="0" rIns="0" bIns="0" rtlCol="0" anchor="ctr"/>
          <a:lstStyle/>
          <a:p>
            <a:pPr marL="0" indent="0" algn="l">
              <a:buNone/>
            </a:pPr>
            <a:r>
              <a:rPr lang="en-US" sz="1400" dirty="0">
                <a:solidFill>
                  <a:srgbClr val="5C6472"/>
                </a:solidFill>
                <a:latin typeface="Calibri" pitchFamily="34" charset="0"/>
                <a:ea typeface="Calibri" pitchFamily="34" charset="-122"/>
                <a:cs typeface="Calibri" pitchFamily="34" charset="-120"/>
              </a:rPr>
              <a:t>The three papers from the review that report ExDark results, ordered by mAP@[.5:.95]</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3072384"/>
        </p:xfrm>
        <a:graphic>
          <a:graphicData uri="http://schemas.openxmlformats.org/drawingml/2006/table">
            <a:tbl>
              <a:tblPr/>
              <a:tblGrid>
                <a:gridCol w="3687775">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384048">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mAP@0.5</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mAP@[.5:.95]</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Params</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GFLOPs</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FPS</a:t>
                      </a:r>
                      <a:endParaRPr lang="en-US" sz="125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lgn="l">
                        <a:buNone/>
                      </a:pPr>
                      <a:r>
                        <a:rPr lang="en-US" sz="1300" b="1" dirty="0">
                          <a:solidFill>
                            <a:srgbClr val="1F2430"/>
                          </a:solidFill>
                          <a:latin typeface="Calibri" pitchFamily="34" charset="0"/>
                          <a:ea typeface="Calibri" pitchFamily="34" charset="-122"/>
                          <a:cs typeface="Calibri" pitchFamily="34" charset="-120"/>
                        </a:rPr>
                        <a:t>A  (this study)</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0.893</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0.634</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31.8 M</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50.9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77.4</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300" b="1" dirty="0">
                          <a:solidFill>
                            <a:srgbClr val="1F2430"/>
                          </a:solidFill>
                          <a:latin typeface="Calibri" pitchFamily="34" charset="0"/>
                          <a:ea typeface="Calibri" pitchFamily="34" charset="-122"/>
                          <a:cs typeface="Calibri" pitchFamily="34" charset="-120"/>
                        </a:rPr>
                        <a:t>H25  (this study)</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0.827</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b="1" dirty="0">
                          <a:solidFill>
                            <a:srgbClr val="1E2761"/>
                          </a:solidFill>
                          <a:latin typeface="Calibri" pitchFamily="34" charset="0"/>
                          <a:ea typeface="Calibri" pitchFamily="34" charset="-122"/>
                          <a:cs typeface="Calibri" pitchFamily="34" charset="-120"/>
                        </a:rPr>
                        <a:t>0.479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31.8 M</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50.9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77.4</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extLst>
                  <a:ext uri="{0D108BD9-81ED-4DB2-BD59-A6C34878D82A}">
                    <a16:rowId xmlns:a16="http://schemas.microsoft.com/office/drawing/2014/main" val="10002"/>
                  </a:ext>
                </a:extLst>
              </a:tr>
              <a:tr h="384048">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PFNN  ·  Liu et al. (2025)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0.717</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0.451</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DarkYOLOv8  ·  Fu et al. (2025)</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0.698</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0.430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b="1" dirty="0">
                          <a:solidFill>
                            <a:srgbClr val="C77A18"/>
                          </a:solidFill>
                          <a:latin typeface="Calibri" pitchFamily="34" charset="0"/>
                          <a:ea typeface="Calibri" pitchFamily="34" charset="-122"/>
                          <a:cs typeface="Calibri" pitchFamily="34" charset="-120"/>
                        </a:rPr>
                        <a:t>2.9 M</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b="1" dirty="0">
                          <a:solidFill>
                            <a:srgbClr val="C77A18"/>
                          </a:solidFill>
                          <a:latin typeface="Calibri" pitchFamily="34" charset="0"/>
                          <a:ea typeface="Calibri" pitchFamily="34" charset="-122"/>
                          <a:cs typeface="Calibri" pitchFamily="34" charset="-120"/>
                        </a:rPr>
                        <a:t>6.7</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extLst>
                  <a:ext uri="{0D108BD9-81ED-4DB2-BD59-A6C34878D82A}">
                    <a16:rowId xmlns:a16="http://schemas.microsoft.com/office/drawing/2014/main" val="10004"/>
                  </a:ext>
                </a:extLst>
              </a:tr>
              <a:tr h="384048">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DeC-YOLO  ·  Li et al. (2026)</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C77A18"/>
                          </a:solidFill>
                          <a:latin typeface="Calibri" pitchFamily="34" charset="0"/>
                          <a:ea typeface="Calibri" pitchFamily="34" charset="-122"/>
                          <a:cs typeface="Calibri" pitchFamily="34" charset="-120"/>
                        </a:rPr>
                        <a:t>0.831</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0.421</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10.7 M</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9.6</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97.6</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300" b="1" dirty="0">
                          <a:solidFill>
                            <a:srgbClr val="1F2430"/>
                          </a:solidFill>
                          <a:latin typeface="Calibri" pitchFamily="34" charset="0"/>
                          <a:ea typeface="Calibri" pitchFamily="34" charset="-122"/>
                          <a:cs typeface="Calibri" pitchFamily="34" charset="-120"/>
                        </a:rPr>
                        <a:t>C@0.55  (this study)</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0.758</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0.420</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31.8 M</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50.9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77.4</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EEF1F8"/>
                    </a:solidFill>
                  </a:tcPr>
                </a:tc>
                <a:extLst>
                  <a:ext uri="{0D108BD9-81ED-4DB2-BD59-A6C34878D82A}">
                    <a16:rowId xmlns:a16="http://schemas.microsoft.com/office/drawing/2014/main" val="10006"/>
                  </a:ext>
                </a:extLst>
              </a:tr>
              <a:tr h="384048">
                <a:tc>
                  <a:txBody>
                    <a:bodyPr/>
                    <a:lstStyle/>
                    <a:p>
                      <a:pPr marL="0" indent="0" algn="l">
                        <a:buNone/>
                      </a:pPr>
                      <a:r>
                        <a:rPr lang="en-US" sz="1300" dirty="0">
                          <a:solidFill>
                            <a:srgbClr val="1F2430"/>
                          </a:solidFill>
                          <a:latin typeface="Calibri" pitchFamily="34" charset="0"/>
                          <a:ea typeface="Calibri" pitchFamily="34" charset="-122"/>
                          <a:cs typeface="Calibri" pitchFamily="34" charset="-120"/>
                        </a:rPr>
                        <a:t>DETR  ·  Li et al. (2026)</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0.812</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0.389</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42.2 M</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52.6</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430"/>
                          </a:solidFill>
                          <a:latin typeface="Calibri" pitchFamily="34" charset="0"/>
                          <a:ea typeface="Calibri" pitchFamily="34" charset="-122"/>
                          <a:cs typeface="Calibri" pitchFamily="34" charset="-120"/>
                        </a:rPr>
                        <a:t>21.4</a:t>
                      </a:r>
                      <a:endParaRPr lang="en-US" sz="1300" dirty="0">
                        <a:latin typeface="Calibri" charset="0"/>
                        <a:ea typeface="Calibri" charset="0"/>
                        <a:cs typeface="Calibri" charset="0"/>
                      </a:endParaRPr>
                    </a:p>
                  </a:txBody>
                  <a:tcPr anchor="ctr">
                    <a:lnL w="6350" cap="flat" cmpd="sng" algn="ctr">
                      <a:solidFill>
                        <a:srgbClr val="D6DBE8"/>
                      </a:solidFill>
                      <a:prstDash val="solid"/>
                      <a:round/>
                      <a:headEnd type="none" w="med" len="med"/>
                      <a:tailEnd type="none" w="med" len="med"/>
                    </a:lnL>
                    <a:lnR w="6350" cap="flat" cmpd="sng" algn="ctr">
                      <a:solidFill>
                        <a:srgbClr val="D6DBE8"/>
                      </a:solidFill>
                      <a:prstDash val="solid"/>
                      <a:round/>
                      <a:headEnd type="none" w="med" len="med"/>
                      <a:tailEnd type="none" w="med" len="med"/>
                    </a:lnR>
                    <a:lnT w="6350" cap="flat" cmpd="sng" algn="ctr">
                      <a:solidFill>
                        <a:srgbClr val="D6DBE8"/>
                      </a:solidFill>
                      <a:prstDash val="solid"/>
                      <a:round/>
                      <a:headEnd type="none" w="med" len="med"/>
                      <a:tailEnd type="none" w="med" len="med"/>
                    </a:lnT>
                    <a:lnB w="6350" cap="flat" cmpd="sng" algn="ctr">
                      <a:solidFill>
                        <a:srgbClr val="D6DB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p:nvPr/>
        </p:nvSpPr>
        <p:spPr>
          <a:xfrm>
            <a:off x="548640" y="5074920"/>
            <a:ext cx="5852160" cy="14630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F2430"/>
                </a:solidFill>
                <a:latin typeface="Calibri" pitchFamily="34" charset="0"/>
                <a:ea typeface="Calibri" pitchFamily="34" charset="-122"/>
                <a:cs typeface="Calibri" pitchFamily="34" charset="-120"/>
              </a:rPr>
              <a:t>A leads both metrics</a:t>
            </a:r>
            <a:endParaRPr lang="en-US" sz="1400" dirty="0"/>
          </a:p>
          <a:p>
            <a:pPr marL="342900" indent="-342900">
              <a:spcAft>
                <a:spcPts val="1000"/>
              </a:spcAft>
              <a:buSzPct val="100000"/>
              <a:buChar char="•"/>
            </a:pPr>
            <a:r>
              <a:rPr lang="en-US" sz="1400" dirty="0">
                <a:solidFill>
                  <a:srgbClr val="1F2430"/>
                </a:solidFill>
                <a:latin typeface="Calibri" pitchFamily="34" charset="0"/>
                <a:ea typeface="Calibri" pitchFamily="34" charset="-122"/>
                <a:cs typeface="Calibri" pitchFamily="34" charset="-120"/>
              </a:rPr>
              <a:t>H25 is second on the strict </a:t>
            </a:r>
            <a:r>
              <a:rPr lang="en-US" sz="1400" dirty="0" err="1">
                <a:solidFill>
                  <a:srgbClr val="1F2430"/>
                </a:solidFill>
                <a:latin typeface="Calibri" pitchFamily="34" charset="0"/>
                <a:ea typeface="Calibri" pitchFamily="34" charset="-122"/>
                <a:cs typeface="Calibri" pitchFamily="34" charset="-120"/>
              </a:rPr>
              <a:t>mAP</a:t>
            </a:r>
            <a:r>
              <a:rPr lang="en-US" sz="1400" dirty="0">
                <a:solidFill>
                  <a:srgbClr val="1F2430"/>
                </a:solidFill>
                <a:latin typeface="Calibri" pitchFamily="34" charset="0"/>
                <a:ea typeface="Calibri" pitchFamily="34" charset="-122"/>
                <a:cs typeface="Calibri" pitchFamily="34" charset="-120"/>
              </a:rPr>
              <a:t>, using only a quarter of human labels</a:t>
            </a:r>
            <a:endParaRPr lang="en-US" sz="1400" dirty="0"/>
          </a:p>
          <a:p>
            <a:pPr marL="342900" indent="-342900">
              <a:spcAft>
                <a:spcPts val="1000"/>
              </a:spcAft>
              <a:buSzPct val="100000"/>
              <a:buChar char="•"/>
            </a:pPr>
            <a:r>
              <a:rPr lang="en-US" sz="1400" dirty="0">
                <a:solidFill>
                  <a:srgbClr val="1F2430"/>
                </a:solidFill>
                <a:latin typeface="Calibri" pitchFamily="34" charset="0"/>
                <a:ea typeface="Calibri" pitchFamily="34" charset="-122"/>
                <a:cs typeface="Calibri" pitchFamily="34" charset="-120"/>
              </a:rPr>
              <a:t>C@0.55, with no human labels, is within 0.001 of DeC-YOLO</a:t>
            </a:r>
            <a:endParaRPr lang="en-US" sz="1400" dirty="0"/>
          </a:p>
        </p:txBody>
      </p:sp>
      <p:sp>
        <p:nvSpPr>
          <p:cNvPr id="7" name="Shape 4"/>
          <p:cNvSpPr/>
          <p:nvPr/>
        </p:nvSpPr>
        <p:spPr>
          <a:xfrm>
            <a:off x="6720840" y="5029200"/>
            <a:ext cx="4919472" cy="1463040"/>
          </a:xfrm>
          <a:prstGeom prst="roundRect">
            <a:avLst>
              <a:gd name="adj" fmla="val 3750"/>
            </a:avLst>
          </a:prstGeom>
          <a:solidFill>
            <a:srgbClr val="FBF2E4"/>
          </a:solidFill>
          <a:ln w="12700">
            <a:solidFill>
              <a:srgbClr val="FBF2E4"/>
            </a:solidFill>
            <a:prstDash val="solid"/>
          </a:ln>
        </p:spPr>
        <p:txBody>
          <a:bodyPr/>
          <a:lstStyle/>
          <a:p>
            <a:endParaRPr lang="en-MY"/>
          </a:p>
        </p:txBody>
      </p:sp>
      <p:sp>
        <p:nvSpPr>
          <p:cNvPr id="8" name="Text 5"/>
          <p:cNvSpPr/>
          <p:nvPr/>
        </p:nvSpPr>
        <p:spPr>
          <a:xfrm>
            <a:off x="6940296" y="5138928"/>
            <a:ext cx="4480560" cy="1243584"/>
          </a:xfrm>
          <a:prstGeom prst="rect">
            <a:avLst/>
          </a:prstGeom>
          <a:noFill/>
          <a:ln/>
        </p:spPr>
        <p:txBody>
          <a:bodyPr wrap="square" lIns="0" tIns="0" rIns="0" bIns="0" rtlCol="0" anchor="ctr"/>
          <a:lstStyle/>
          <a:p>
            <a:pPr marL="0" indent="0">
              <a:buNone/>
            </a:pPr>
            <a:r>
              <a:rPr lang="en-US" sz="1300" b="1" dirty="0">
                <a:solidFill>
                  <a:srgbClr val="8A5A12"/>
                </a:solidFill>
                <a:latin typeface="Calibri" pitchFamily="34" charset="0"/>
                <a:ea typeface="Calibri" pitchFamily="34" charset="-122"/>
                <a:cs typeface="Calibri" pitchFamily="34" charset="-120"/>
              </a:rPr>
              <a:t>Efficiency Metrics</a:t>
            </a:r>
            <a:endParaRPr lang="en-US" sz="1300" dirty="0"/>
          </a:p>
          <a:p>
            <a:pPr marL="0" indent="0">
              <a:buNone/>
            </a:pPr>
            <a:r>
              <a:rPr lang="en-US" sz="1350" dirty="0">
                <a:solidFill>
                  <a:srgbClr val="1F2430"/>
                </a:solidFill>
                <a:latin typeface="Calibri" pitchFamily="34" charset="0"/>
                <a:ea typeface="Calibri" pitchFamily="34" charset="-122"/>
                <a:cs typeface="Calibri" pitchFamily="34" charset="-120"/>
              </a:rPr>
              <a:t>31.8 M parameters and 50.9 GFLOPs, roughly 3× DeC-YOLO and 11× DarkYOLOv8. </a:t>
            </a:r>
          </a:p>
          <a:p>
            <a:pPr marL="0" indent="0">
              <a:buNone/>
            </a:pPr>
            <a:endParaRPr lang="en-US" sz="1350" dirty="0">
              <a:solidFill>
                <a:srgbClr val="1F2430"/>
              </a:solidFill>
              <a:latin typeface="Calibri" pitchFamily="34" charset="0"/>
              <a:ea typeface="Calibri" pitchFamily="34" charset="-122"/>
              <a:cs typeface="Calibri" pitchFamily="34" charset="-120"/>
            </a:endParaRPr>
          </a:p>
          <a:p>
            <a:pPr marL="0" indent="0">
              <a:buNone/>
            </a:pPr>
            <a:r>
              <a:rPr lang="en-US" sz="1350" dirty="0">
                <a:solidFill>
                  <a:srgbClr val="1F2430"/>
                </a:solidFill>
                <a:latin typeface="Calibri" pitchFamily="34" charset="0"/>
                <a:ea typeface="Calibri" pitchFamily="34" charset="-122"/>
                <a:cs typeface="Calibri" pitchFamily="34" charset="-120"/>
              </a:rPr>
              <a:t>This pipeline sits between the lightweight YOLOs and the classical detectors.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Discussion</a:t>
            </a:r>
            <a:endParaRPr lang="en-US" sz="3000" dirty="0"/>
          </a:p>
        </p:txBody>
      </p:sp>
      <p:sp>
        <p:nvSpPr>
          <p:cNvPr id="3" name="Shape 1"/>
          <p:cNvSpPr/>
          <p:nvPr/>
        </p:nvSpPr>
        <p:spPr>
          <a:xfrm>
            <a:off x="548640" y="1371600"/>
            <a:ext cx="11094415" cy="1481328"/>
          </a:xfrm>
          <a:prstGeom prst="roundRect">
            <a:avLst>
              <a:gd name="adj" fmla="val 3086"/>
            </a:avLst>
          </a:prstGeom>
          <a:solidFill>
            <a:srgbClr val="EEF1F8"/>
          </a:solidFill>
          <a:ln w="12700">
            <a:solidFill>
              <a:srgbClr val="EEF1F8"/>
            </a:solidFill>
            <a:prstDash val="solid"/>
          </a:ln>
        </p:spPr>
        <p:txBody>
          <a:bodyPr/>
          <a:lstStyle/>
          <a:p>
            <a:endParaRPr lang="en-MY"/>
          </a:p>
        </p:txBody>
      </p:sp>
      <p:sp>
        <p:nvSpPr>
          <p:cNvPr id="4" name="Shape 2"/>
          <p:cNvSpPr/>
          <p:nvPr/>
        </p:nvSpPr>
        <p:spPr>
          <a:xfrm>
            <a:off x="822960" y="1664208"/>
            <a:ext cx="457200" cy="457200"/>
          </a:xfrm>
          <a:prstGeom prst="ellipse">
            <a:avLst/>
          </a:prstGeom>
          <a:solidFill>
            <a:srgbClr val="1E2761"/>
          </a:solidFill>
          <a:ln w="12700">
            <a:solidFill>
              <a:srgbClr val="1E2761"/>
            </a:solidFill>
            <a:prstDash val="solid"/>
          </a:ln>
        </p:spPr>
        <p:txBody>
          <a:bodyPr/>
          <a:lstStyle/>
          <a:p>
            <a:endParaRPr lang="en-MY"/>
          </a:p>
        </p:txBody>
      </p:sp>
      <p:sp>
        <p:nvSpPr>
          <p:cNvPr id="5" name="Text 3"/>
          <p:cNvSpPr/>
          <p:nvPr/>
        </p:nvSpPr>
        <p:spPr>
          <a:xfrm>
            <a:off x="822960" y="16642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463039" y="1517904"/>
            <a:ext cx="10180015" cy="36576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Pseudo-labels excel at detection, but struggle with </a:t>
            </a:r>
            <a:r>
              <a:rPr lang="en-US" sz="1700" b="1" dirty="0" err="1">
                <a:solidFill>
                  <a:srgbClr val="1E2761"/>
                </a:solidFill>
                <a:latin typeface="Cambria" pitchFamily="34" charset="0"/>
                <a:ea typeface="Cambria" pitchFamily="34" charset="-122"/>
                <a:cs typeface="Cambria" pitchFamily="34" charset="-120"/>
              </a:rPr>
              <a:t>localisation</a:t>
            </a:r>
            <a:r>
              <a:rPr lang="en-US" sz="1700" b="1" dirty="0">
                <a:solidFill>
                  <a:srgbClr val="1E2761"/>
                </a:solidFill>
                <a:latin typeface="Cambria" pitchFamily="34" charset="0"/>
                <a:ea typeface="Cambria" pitchFamily="34" charset="-122"/>
                <a:cs typeface="Cambria" pitchFamily="34" charset="-120"/>
              </a:rPr>
              <a:t> vs </a:t>
            </a:r>
            <a:r>
              <a:rPr lang="en-US" sz="1700" b="1" dirty="0" err="1">
                <a:solidFill>
                  <a:srgbClr val="1E2761"/>
                </a:solidFill>
                <a:latin typeface="Cambria" pitchFamily="34" charset="0"/>
                <a:ea typeface="Cambria" pitchFamily="34" charset="-122"/>
                <a:cs typeface="Cambria" pitchFamily="34" charset="-120"/>
              </a:rPr>
              <a:t>ExDark</a:t>
            </a:r>
            <a:r>
              <a:rPr lang="en-US" sz="1700" b="1" dirty="0">
                <a:solidFill>
                  <a:srgbClr val="1E2761"/>
                </a:solidFill>
                <a:latin typeface="Cambria" pitchFamily="34" charset="0"/>
                <a:ea typeface="Cambria" pitchFamily="34" charset="-122"/>
                <a:cs typeface="Cambria" pitchFamily="34" charset="-120"/>
              </a:rPr>
              <a:t> Ground Truth </a:t>
            </a:r>
            <a:endParaRPr lang="en-US" sz="1700" dirty="0"/>
          </a:p>
        </p:txBody>
      </p:sp>
      <p:sp>
        <p:nvSpPr>
          <p:cNvPr id="7" name="Text 5"/>
          <p:cNvSpPr/>
          <p:nvPr/>
        </p:nvSpPr>
        <p:spPr>
          <a:xfrm>
            <a:off x="1463040" y="1920240"/>
            <a:ext cx="8503920" cy="822960"/>
          </a:xfrm>
          <a:prstGeom prst="rect">
            <a:avLst/>
          </a:prstGeom>
          <a:noFill/>
          <a:ln/>
        </p:spPr>
        <p:txBody>
          <a:bodyPr wrap="square" lIns="0" tIns="0" rIns="0" bIns="0" rtlCol="0" anchor="t"/>
          <a:lstStyle/>
          <a:p>
            <a:pPr marL="0" indent="0">
              <a:buNone/>
            </a:pPr>
            <a:r>
              <a:rPr lang="en-US" sz="1350" dirty="0">
                <a:solidFill>
                  <a:srgbClr val="1F2430"/>
                </a:solidFill>
                <a:latin typeface="Calibri" pitchFamily="34" charset="0"/>
                <a:ea typeface="Calibri" pitchFamily="34" charset="-122"/>
                <a:cs typeface="Calibri" pitchFamily="34" charset="-120"/>
              </a:rPr>
              <a:t>Pseudo-labels find objects almost as well as humans but draw them more loosely versus human-trained labels for </a:t>
            </a:r>
            <a:r>
              <a:rPr lang="en-US" sz="1350" dirty="0" err="1">
                <a:solidFill>
                  <a:srgbClr val="1F2430"/>
                </a:solidFill>
                <a:latin typeface="Calibri" pitchFamily="34" charset="0"/>
                <a:ea typeface="Calibri" pitchFamily="34" charset="-122"/>
                <a:cs typeface="Calibri" pitchFamily="34" charset="-120"/>
              </a:rPr>
              <a:t>ExDark</a:t>
            </a:r>
            <a:r>
              <a:rPr lang="en-US" sz="1350" dirty="0">
                <a:solidFill>
                  <a:srgbClr val="1F2430"/>
                </a:solidFill>
                <a:latin typeface="Calibri" pitchFamily="34" charset="0"/>
                <a:ea typeface="Calibri" pitchFamily="34" charset="-122"/>
                <a:cs typeface="Calibri" pitchFamily="34" charset="-120"/>
              </a:rPr>
              <a:t>.</a:t>
            </a:r>
          </a:p>
          <a:p>
            <a:pPr marL="0" indent="0">
              <a:buNone/>
            </a:pPr>
            <a:endParaRPr lang="en-US" sz="1350" dirty="0">
              <a:solidFill>
                <a:srgbClr val="1F2430"/>
              </a:solidFill>
              <a:latin typeface="Calibri" pitchFamily="34" charset="0"/>
              <a:ea typeface="Calibri" pitchFamily="34" charset="-122"/>
              <a:cs typeface="Calibri" pitchFamily="34" charset="-120"/>
            </a:endParaRPr>
          </a:p>
          <a:p>
            <a:pPr marL="0" indent="0">
              <a:buNone/>
            </a:pPr>
            <a:r>
              <a:rPr lang="en-US" sz="1350" dirty="0">
                <a:solidFill>
                  <a:srgbClr val="1F2430"/>
                </a:solidFill>
                <a:latin typeface="Calibri" pitchFamily="34" charset="0"/>
                <a:ea typeface="Calibri" pitchFamily="34" charset="-122"/>
                <a:cs typeface="Calibri" pitchFamily="34" charset="-120"/>
              </a:rPr>
              <a:t>The difference inherited from to COCO-pretraining convention from RF-DETR.</a:t>
            </a:r>
            <a:endParaRPr lang="en-US" sz="1350" dirty="0"/>
          </a:p>
        </p:txBody>
      </p:sp>
      <p:sp>
        <p:nvSpPr>
          <p:cNvPr id="9" name="Shape 7"/>
          <p:cNvSpPr/>
          <p:nvPr/>
        </p:nvSpPr>
        <p:spPr>
          <a:xfrm>
            <a:off x="548640" y="3035808"/>
            <a:ext cx="11094415" cy="1481328"/>
          </a:xfrm>
          <a:prstGeom prst="roundRect">
            <a:avLst>
              <a:gd name="adj" fmla="val 3086"/>
            </a:avLst>
          </a:prstGeom>
          <a:solidFill>
            <a:srgbClr val="EEF1F8"/>
          </a:solidFill>
          <a:ln w="12700">
            <a:solidFill>
              <a:srgbClr val="EEF1F8"/>
            </a:solidFill>
            <a:prstDash val="solid"/>
          </a:ln>
        </p:spPr>
        <p:txBody>
          <a:bodyPr/>
          <a:lstStyle/>
          <a:p>
            <a:endParaRPr lang="en-MY"/>
          </a:p>
        </p:txBody>
      </p:sp>
      <p:sp>
        <p:nvSpPr>
          <p:cNvPr id="10" name="Shape 8"/>
          <p:cNvSpPr/>
          <p:nvPr/>
        </p:nvSpPr>
        <p:spPr>
          <a:xfrm>
            <a:off x="822960" y="3328416"/>
            <a:ext cx="457200" cy="457200"/>
          </a:xfrm>
          <a:prstGeom prst="ellipse">
            <a:avLst/>
          </a:prstGeom>
          <a:solidFill>
            <a:srgbClr val="1E2761"/>
          </a:solidFill>
          <a:ln w="12700">
            <a:solidFill>
              <a:srgbClr val="1E2761"/>
            </a:solidFill>
            <a:prstDash val="solid"/>
          </a:ln>
        </p:spPr>
        <p:txBody>
          <a:bodyPr/>
          <a:lstStyle/>
          <a:p>
            <a:endParaRPr lang="en-MY"/>
          </a:p>
        </p:txBody>
      </p:sp>
      <p:sp>
        <p:nvSpPr>
          <p:cNvPr id="11" name="Text 9"/>
          <p:cNvSpPr/>
          <p:nvPr/>
        </p:nvSpPr>
        <p:spPr>
          <a:xfrm>
            <a:off x="822960" y="332841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463040" y="3182112"/>
            <a:ext cx="10180014" cy="36576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Injecting small amount of human labels gives non-linear improvement </a:t>
            </a:r>
            <a:endParaRPr lang="en-US" sz="1700" dirty="0"/>
          </a:p>
        </p:txBody>
      </p:sp>
      <p:sp>
        <p:nvSpPr>
          <p:cNvPr id="13" name="Text 11"/>
          <p:cNvSpPr/>
          <p:nvPr/>
        </p:nvSpPr>
        <p:spPr>
          <a:xfrm>
            <a:off x="1463040" y="3584448"/>
            <a:ext cx="8503920" cy="822960"/>
          </a:xfrm>
          <a:prstGeom prst="rect">
            <a:avLst/>
          </a:prstGeom>
          <a:noFill/>
          <a:ln/>
        </p:spPr>
        <p:txBody>
          <a:bodyPr wrap="square" lIns="0" tIns="0" rIns="0" bIns="0" rtlCol="0" anchor="t"/>
          <a:lstStyle/>
          <a:p>
            <a:pPr marL="0" indent="0">
              <a:buNone/>
            </a:pPr>
            <a:r>
              <a:rPr lang="en-US" sz="1350" dirty="0">
                <a:solidFill>
                  <a:srgbClr val="1F2430"/>
                </a:solidFill>
                <a:latin typeface="Calibri" pitchFamily="34" charset="0"/>
                <a:ea typeface="Calibri" pitchFamily="34" charset="-122"/>
                <a:cs typeface="Calibri" pitchFamily="34" charset="-120"/>
              </a:rPr>
              <a:t>25% of the images supplies 4,700 of 14,795 boxes, because human annotation includes objects the teacher missed.</a:t>
            </a:r>
          </a:p>
          <a:p>
            <a:pPr marL="0" indent="0">
              <a:buNone/>
            </a:pPr>
            <a:endParaRPr lang="en-US" sz="1350" dirty="0">
              <a:solidFill>
                <a:srgbClr val="1F2430"/>
              </a:solidFill>
              <a:latin typeface="Calibri" pitchFamily="34" charset="0"/>
              <a:ea typeface="Calibri" pitchFamily="34" charset="-122"/>
              <a:cs typeface="Calibri" pitchFamily="34" charset="-120"/>
            </a:endParaRPr>
          </a:p>
          <a:p>
            <a:pPr marL="0" indent="0">
              <a:buNone/>
            </a:pPr>
            <a:r>
              <a:rPr lang="en-US" sz="1350" dirty="0">
                <a:solidFill>
                  <a:srgbClr val="1F2430"/>
                </a:solidFill>
                <a:latin typeface="Calibri" pitchFamily="34" charset="0"/>
                <a:ea typeface="Calibri" pitchFamily="34" charset="-122"/>
                <a:cs typeface="Calibri" pitchFamily="34" charset="-120"/>
              </a:rPr>
              <a:t>10% recovers 14.5% of the 0.201 </a:t>
            </a:r>
            <a:r>
              <a:rPr lang="en-US" sz="1350" dirty="0" err="1">
                <a:solidFill>
                  <a:srgbClr val="1F2430"/>
                </a:solidFill>
                <a:latin typeface="Calibri" pitchFamily="34" charset="0"/>
                <a:ea typeface="Calibri" pitchFamily="34" charset="-122"/>
                <a:cs typeface="Calibri" pitchFamily="34" charset="-120"/>
              </a:rPr>
              <a:t>mAP</a:t>
            </a:r>
            <a:r>
              <a:rPr lang="en-US" sz="1350" dirty="0">
                <a:solidFill>
                  <a:srgbClr val="1F2430"/>
                </a:solidFill>
                <a:latin typeface="Calibri" pitchFamily="34" charset="0"/>
                <a:ea typeface="Calibri" pitchFamily="34" charset="-122"/>
                <a:cs typeface="Calibri" pitchFamily="34" charset="-120"/>
              </a:rPr>
              <a:t>@[.5:.95] gap; 25% recovers 29.5% of the gap.</a:t>
            </a:r>
            <a:endParaRPr lang="en-US" sz="1350" dirty="0"/>
          </a:p>
        </p:txBody>
      </p:sp>
      <p:sp>
        <p:nvSpPr>
          <p:cNvPr id="15" name="Shape 13"/>
          <p:cNvSpPr/>
          <p:nvPr/>
        </p:nvSpPr>
        <p:spPr>
          <a:xfrm>
            <a:off x="548640" y="4700016"/>
            <a:ext cx="11094415" cy="1481328"/>
          </a:xfrm>
          <a:prstGeom prst="roundRect">
            <a:avLst>
              <a:gd name="adj" fmla="val 3086"/>
            </a:avLst>
          </a:prstGeom>
          <a:solidFill>
            <a:srgbClr val="FBF2E4"/>
          </a:solidFill>
          <a:ln w="12700">
            <a:solidFill>
              <a:srgbClr val="FBF2E4"/>
            </a:solidFill>
            <a:prstDash val="solid"/>
          </a:ln>
        </p:spPr>
        <p:txBody>
          <a:bodyPr/>
          <a:lstStyle/>
          <a:p>
            <a:endParaRPr lang="en-MY"/>
          </a:p>
        </p:txBody>
      </p:sp>
      <p:sp>
        <p:nvSpPr>
          <p:cNvPr id="16" name="Shape 14"/>
          <p:cNvSpPr/>
          <p:nvPr/>
        </p:nvSpPr>
        <p:spPr>
          <a:xfrm>
            <a:off x="822960" y="4992624"/>
            <a:ext cx="457200" cy="457200"/>
          </a:xfrm>
          <a:prstGeom prst="ellipse">
            <a:avLst/>
          </a:prstGeom>
          <a:solidFill>
            <a:srgbClr val="8A5A12"/>
          </a:solidFill>
          <a:ln w="12700">
            <a:solidFill>
              <a:srgbClr val="8A5A12"/>
            </a:solidFill>
            <a:prstDash val="solid"/>
          </a:ln>
        </p:spPr>
        <p:txBody>
          <a:bodyPr/>
          <a:lstStyle/>
          <a:p>
            <a:endParaRPr lang="en-MY"/>
          </a:p>
        </p:txBody>
      </p:sp>
      <p:sp>
        <p:nvSpPr>
          <p:cNvPr id="17" name="Text 15"/>
          <p:cNvSpPr/>
          <p:nvPr/>
        </p:nvSpPr>
        <p:spPr>
          <a:xfrm>
            <a:off x="822960" y="499262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463040" y="4846320"/>
            <a:ext cx="6949440" cy="365760"/>
          </a:xfrm>
          <a:prstGeom prst="rect">
            <a:avLst/>
          </a:prstGeom>
          <a:noFill/>
          <a:ln/>
        </p:spPr>
        <p:txBody>
          <a:bodyPr wrap="square" lIns="0" tIns="0" rIns="0" bIns="0" rtlCol="0" anchor="ctr"/>
          <a:lstStyle/>
          <a:p>
            <a:pPr marL="0" indent="0">
              <a:buNone/>
            </a:pPr>
            <a:r>
              <a:rPr lang="en-US" sz="1700" b="1" dirty="0">
                <a:solidFill>
                  <a:srgbClr val="8A5A12"/>
                </a:solidFill>
                <a:latin typeface="Cambria" pitchFamily="34" charset="0"/>
                <a:ea typeface="Cambria" pitchFamily="34" charset="-122"/>
                <a:cs typeface="Cambria" pitchFamily="34" charset="-120"/>
              </a:rPr>
              <a:t>Enhancement does not give significant benefit</a:t>
            </a:r>
            <a:endParaRPr lang="en-US" sz="1700" dirty="0"/>
          </a:p>
        </p:txBody>
      </p:sp>
      <p:sp>
        <p:nvSpPr>
          <p:cNvPr id="19" name="Text 17"/>
          <p:cNvSpPr/>
          <p:nvPr/>
        </p:nvSpPr>
        <p:spPr>
          <a:xfrm>
            <a:off x="1463040" y="5248656"/>
            <a:ext cx="8503920" cy="822960"/>
          </a:xfrm>
          <a:prstGeom prst="rect">
            <a:avLst/>
          </a:prstGeom>
          <a:noFill/>
          <a:ln/>
        </p:spPr>
        <p:txBody>
          <a:bodyPr wrap="square" lIns="0" tIns="0" rIns="0" bIns="0" rtlCol="0" anchor="t"/>
          <a:lstStyle/>
          <a:p>
            <a:pPr marL="0" indent="0">
              <a:buNone/>
            </a:pPr>
            <a:r>
              <a:rPr lang="en-US" sz="1350" dirty="0">
                <a:solidFill>
                  <a:srgbClr val="1F2430"/>
                </a:solidFill>
                <a:latin typeface="Calibri" pitchFamily="34" charset="0"/>
                <a:ea typeface="Calibri" pitchFamily="34" charset="-122"/>
                <a:cs typeface="Calibri" pitchFamily="34" charset="-120"/>
              </a:rPr>
              <a:t>Three enhancement methods do not give any significant improvement. </a:t>
            </a:r>
          </a:p>
          <a:p>
            <a:pPr marL="0" indent="0">
              <a:buNone/>
            </a:pPr>
            <a:endParaRPr lang="en-US" sz="1350" dirty="0">
              <a:solidFill>
                <a:srgbClr val="1F2430"/>
              </a:solidFill>
              <a:latin typeface="Calibri" pitchFamily="34" charset="0"/>
              <a:ea typeface="Calibri" pitchFamily="34" charset="-122"/>
              <a:cs typeface="Calibri" pitchFamily="34" charset="-120"/>
            </a:endParaRPr>
          </a:p>
          <a:p>
            <a:pPr marL="0" indent="0">
              <a:buNone/>
            </a:pPr>
            <a:r>
              <a:rPr lang="en-US" sz="1350" dirty="0">
                <a:solidFill>
                  <a:srgbClr val="1F2430"/>
                </a:solidFill>
                <a:latin typeface="Calibri" pitchFamily="34" charset="0"/>
                <a:ea typeface="Calibri" pitchFamily="34" charset="-122"/>
                <a:cs typeface="Calibri" pitchFamily="34" charset="-120"/>
              </a:rPr>
              <a:t>The pretrained backbone may already be illumination-robust.</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 and future work</a:t>
            </a:r>
            <a:endParaRPr lang="en-US" sz="3000" dirty="0"/>
          </a:p>
        </p:txBody>
      </p:sp>
      <p:sp>
        <p:nvSpPr>
          <p:cNvPr id="3" name="Text 1"/>
          <p:cNvSpPr/>
          <p:nvPr/>
        </p:nvSpPr>
        <p:spPr>
          <a:xfrm>
            <a:off x="548640" y="1325880"/>
            <a:ext cx="5394960" cy="292608"/>
          </a:xfrm>
          <a:prstGeom prst="rect">
            <a:avLst/>
          </a:prstGeom>
          <a:noFill/>
          <a:ln/>
        </p:spPr>
        <p:txBody>
          <a:bodyPr wrap="square" lIns="0" tIns="0" rIns="0" bIns="0" rtlCol="0" anchor="ctr"/>
          <a:lstStyle/>
          <a:p>
            <a:pPr marL="0" indent="0">
              <a:buNone/>
            </a:pPr>
            <a:r>
              <a:rPr lang="en-US" sz="1800" b="1" dirty="0">
                <a:solidFill>
                  <a:srgbClr val="CADCFC"/>
                </a:solidFill>
                <a:latin typeface="Cambria" pitchFamily="34" charset="0"/>
                <a:ea typeface="Cambria" pitchFamily="34" charset="-122"/>
              </a:rPr>
              <a:t>Key findings</a:t>
            </a:r>
            <a:endParaRPr lang="en-US" sz="1800" dirty="0"/>
          </a:p>
        </p:txBody>
      </p:sp>
      <p:sp>
        <p:nvSpPr>
          <p:cNvPr id="4" name="Text 2"/>
          <p:cNvSpPr/>
          <p:nvPr/>
        </p:nvSpPr>
        <p:spPr>
          <a:xfrm>
            <a:off x="548640" y="1755648"/>
            <a:ext cx="5394960" cy="2377440"/>
          </a:xfrm>
          <a:prstGeom prst="rect">
            <a:avLst/>
          </a:prstGeom>
          <a:noFill/>
          <a:ln/>
        </p:spPr>
        <p:txBody>
          <a:bodyPr wrap="square" lIns="0" tIns="0" rIns="0" bIns="0" rtlCol="0" anchor="t"/>
          <a:lstStyle/>
          <a:p>
            <a:pPr marL="342900" indent="-342900">
              <a:spcAft>
                <a:spcPts val="1800"/>
              </a:spcAft>
              <a:buSzPct val="100000"/>
              <a:buChar char="•"/>
            </a:pPr>
            <a:r>
              <a:rPr lang="en-US" sz="1450" dirty="0">
                <a:solidFill>
                  <a:srgbClr val="E8ECF7"/>
                </a:solidFill>
                <a:latin typeface="Calibri" pitchFamily="34" charset="0"/>
                <a:ea typeface="Calibri" pitchFamily="34" charset="-122"/>
                <a:cs typeface="Calibri" pitchFamily="34" charset="-120"/>
              </a:rPr>
              <a:t>Human labels lead at 0.893 mAP@0.5 and 0.634 </a:t>
            </a:r>
            <a:r>
              <a:rPr lang="en-US" sz="1450" dirty="0" err="1">
                <a:solidFill>
                  <a:srgbClr val="E8ECF7"/>
                </a:solidFill>
                <a:latin typeface="Calibri" pitchFamily="34" charset="0"/>
                <a:ea typeface="Calibri" pitchFamily="34" charset="-122"/>
                <a:cs typeface="Calibri" pitchFamily="34" charset="-120"/>
              </a:rPr>
              <a:t>mAP</a:t>
            </a:r>
            <a:r>
              <a:rPr lang="en-US" sz="1450" dirty="0">
                <a:solidFill>
                  <a:srgbClr val="E8ECF7"/>
                </a:solidFill>
                <a:latin typeface="Calibri" pitchFamily="34" charset="0"/>
                <a:ea typeface="Calibri" pitchFamily="34" charset="-122"/>
                <a:cs typeface="Calibri" pitchFamily="34" charset="-120"/>
              </a:rPr>
              <a:t>@[.5:.95]</a:t>
            </a:r>
          </a:p>
          <a:p>
            <a:pPr marL="342900" indent="-342900">
              <a:spcAft>
                <a:spcPts val="1800"/>
              </a:spcAft>
              <a:buSzPct val="100000"/>
              <a:buFontTx/>
              <a:buChar char="•"/>
            </a:pPr>
            <a:r>
              <a:rPr lang="en-US" sz="1450" dirty="0">
                <a:solidFill>
                  <a:srgbClr val="E8ECF7"/>
                </a:solidFill>
                <a:latin typeface="Calibri" pitchFamily="34" charset="0"/>
                <a:ea typeface="Calibri" pitchFamily="34" charset="-122"/>
                <a:cs typeface="Calibri" pitchFamily="34" charset="-120"/>
              </a:rPr>
              <a:t>Pseudo-labels alone reach 0.758 mAP@0.5 and 0.420 </a:t>
            </a:r>
            <a:r>
              <a:rPr lang="en-US" sz="1450" dirty="0" err="1">
                <a:solidFill>
                  <a:srgbClr val="E8ECF7"/>
                </a:solidFill>
                <a:latin typeface="Calibri" pitchFamily="34" charset="0"/>
                <a:ea typeface="Calibri" pitchFamily="34" charset="-122"/>
                <a:cs typeface="Calibri" pitchFamily="34" charset="-120"/>
              </a:rPr>
              <a:t>mAP</a:t>
            </a:r>
            <a:r>
              <a:rPr lang="en-US" sz="1450" dirty="0">
                <a:solidFill>
                  <a:srgbClr val="E8ECF7"/>
                </a:solidFill>
                <a:latin typeface="Calibri" pitchFamily="34" charset="0"/>
                <a:ea typeface="Calibri" pitchFamily="34" charset="-122"/>
                <a:cs typeface="Calibri" pitchFamily="34" charset="-120"/>
              </a:rPr>
              <a:t>@[.5:.95]</a:t>
            </a:r>
            <a:endParaRPr lang="en-US" sz="1450" dirty="0"/>
          </a:p>
          <a:p>
            <a:pPr marL="342900" indent="-342900">
              <a:spcAft>
                <a:spcPts val="1800"/>
              </a:spcAft>
              <a:buSzPct val="100000"/>
              <a:buFontTx/>
              <a:buChar char="•"/>
            </a:pPr>
            <a:r>
              <a:rPr lang="en-US" sz="1450" dirty="0">
                <a:solidFill>
                  <a:srgbClr val="E8ECF7"/>
                </a:solidFill>
                <a:latin typeface="Calibri" pitchFamily="34" charset="0"/>
                <a:ea typeface="Calibri" pitchFamily="34" charset="-122"/>
                <a:cs typeface="Calibri" pitchFamily="34" charset="-120"/>
              </a:rPr>
              <a:t>10% and 25% Hybrid mixes recover 14.5% and 29.5% of the 0.201 </a:t>
            </a:r>
            <a:r>
              <a:rPr lang="en-US" sz="1450" dirty="0" err="1">
                <a:solidFill>
                  <a:srgbClr val="E8ECF7"/>
                </a:solidFill>
                <a:latin typeface="Calibri" pitchFamily="34" charset="0"/>
                <a:ea typeface="Calibri" pitchFamily="34" charset="-122"/>
                <a:cs typeface="Calibri" pitchFamily="34" charset="-120"/>
              </a:rPr>
              <a:t>mAP</a:t>
            </a:r>
            <a:r>
              <a:rPr lang="en-US" sz="1450" dirty="0">
                <a:solidFill>
                  <a:srgbClr val="E8ECF7"/>
                </a:solidFill>
                <a:latin typeface="Calibri" pitchFamily="34" charset="0"/>
                <a:ea typeface="Calibri" pitchFamily="34" charset="-122"/>
                <a:cs typeface="Calibri" pitchFamily="34" charset="-120"/>
              </a:rPr>
              <a:t>@[.5:.95], making it a strong alternative for training efficiency</a:t>
            </a:r>
            <a:endParaRPr lang="en-US" sz="1450" dirty="0"/>
          </a:p>
          <a:p>
            <a:pPr marL="342900" indent="-342900">
              <a:spcAft>
                <a:spcPts val="1800"/>
              </a:spcAft>
              <a:buSzPct val="100000"/>
              <a:buChar char="•"/>
            </a:pPr>
            <a:r>
              <a:rPr lang="en-US" sz="1450" dirty="0">
                <a:solidFill>
                  <a:srgbClr val="E8ECF7"/>
                </a:solidFill>
                <a:latin typeface="Calibri" pitchFamily="34" charset="0"/>
                <a:ea typeface="Calibri" pitchFamily="34" charset="-122"/>
                <a:cs typeface="Calibri" pitchFamily="34" charset="-120"/>
              </a:rPr>
              <a:t>Enhancement can be removed with no measured loss</a:t>
            </a:r>
          </a:p>
          <a:p>
            <a:pPr marL="342900" indent="-342900">
              <a:spcAft>
                <a:spcPts val="1800"/>
              </a:spcAft>
              <a:buSzPct val="100000"/>
              <a:buChar char="•"/>
            </a:pPr>
            <a:r>
              <a:rPr lang="en-US" sz="1450" dirty="0">
                <a:solidFill>
                  <a:srgbClr val="E8ECF7"/>
                </a:solidFill>
                <a:latin typeface="Calibri" pitchFamily="34" charset="0"/>
                <a:ea typeface="Calibri" pitchFamily="34" charset="-122"/>
                <a:cs typeface="Calibri" pitchFamily="34" charset="-120"/>
              </a:rPr>
              <a:t>77.4 fps inference makes model suitable for real-time detection</a:t>
            </a:r>
            <a:endParaRPr lang="en-US" sz="1450" dirty="0"/>
          </a:p>
        </p:txBody>
      </p:sp>
      <p:sp>
        <p:nvSpPr>
          <p:cNvPr id="5" name="Text 3"/>
          <p:cNvSpPr/>
          <p:nvPr/>
        </p:nvSpPr>
        <p:spPr>
          <a:xfrm>
            <a:off x="548640" y="4434840"/>
            <a:ext cx="5394960" cy="292608"/>
          </a:xfrm>
          <a:prstGeom prst="rect">
            <a:avLst/>
          </a:prstGeom>
          <a:noFill/>
          <a:ln/>
        </p:spPr>
        <p:txBody>
          <a:bodyPr wrap="square" lIns="0" tIns="0" rIns="0" bIns="0" rtlCol="0" anchor="ctr"/>
          <a:lstStyle/>
          <a:p>
            <a:pPr marL="0" indent="0">
              <a:buNone/>
            </a:pPr>
            <a:r>
              <a:rPr lang="en-US" sz="1800" b="1" dirty="0">
                <a:solidFill>
                  <a:srgbClr val="CADCFC"/>
                </a:solidFill>
                <a:latin typeface="Cambria" pitchFamily="34" charset="0"/>
                <a:ea typeface="Cambria" pitchFamily="34" charset="-122"/>
                <a:cs typeface="Cambria" pitchFamily="34" charset="-120"/>
              </a:rPr>
              <a:t>Limitation</a:t>
            </a:r>
            <a:endParaRPr lang="en-US" sz="1800" dirty="0"/>
          </a:p>
        </p:txBody>
      </p:sp>
      <p:sp>
        <p:nvSpPr>
          <p:cNvPr id="6" name="Text 4"/>
          <p:cNvSpPr/>
          <p:nvPr/>
        </p:nvSpPr>
        <p:spPr>
          <a:xfrm>
            <a:off x="548640" y="4864608"/>
            <a:ext cx="5394960" cy="1188720"/>
          </a:xfrm>
          <a:prstGeom prst="rect">
            <a:avLst/>
          </a:prstGeom>
          <a:noFill/>
          <a:ln/>
        </p:spPr>
        <p:txBody>
          <a:bodyPr wrap="square" lIns="0" tIns="0" rIns="0" bIns="0" rtlCol="0" anchor="t"/>
          <a:lstStyle/>
          <a:p>
            <a:pPr marL="0" indent="0">
              <a:buNone/>
            </a:pPr>
            <a:r>
              <a:rPr lang="en-US" sz="1400" dirty="0">
                <a:solidFill>
                  <a:srgbClr val="E8ECF7"/>
                </a:solidFill>
                <a:latin typeface="Calibri" pitchFamily="34" charset="0"/>
                <a:ea typeface="Calibri" pitchFamily="34" charset="-122"/>
                <a:cs typeface="Calibri" pitchFamily="34" charset="-120"/>
              </a:rPr>
              <a:t>The tightness and surfaced-object findings are observed based on model predictions.</a:t>
            </a:r>
          </a:p>
          <a:p>
            <a:pPr marL="0" indent="0">
              <a:buNone/>
            </a:pPr>
            <a:endParaRPr lang="en-US" sz="1400" dirty="0">
              <a:solidFill>
                <a:srgbClr val="E8ECF7"/>
              </a:solidFill>
              <a:latin typeface="Calibri" pitchFamily="34" charset="0"/>
              <a:ea typeface="Calibri" pitchFamily="34" charset="-122"/>
              <a:cs typeface="Calibri" pitchFamily="34" charset="-120"/>
            </a:endParaRPr>
          </a:p>
          <a:p>
            <a:pPr marL="0" indent="0">
              <a:buNone/>
            </a:pPr>
            <a:r>
              <a:rPr lang="en-US" sz="1400" dirty="0">
                <a:solidFill>
                  <a:srgbClr val="E8ECF7"/>
                </a:solidFill>
                <a:latin typeface="Calibri" pitchFamily="34" charset="0"/>
                <a:ea typeface="Calibri" pitchFamily="34" charset="-122"/>
                <a:cs typeface="Calibri" pitchFamily="34" charset="-120"/>
              </a:rPr>
              <a:t>Validating them needs a manual audit of the ExDark ground truth.</a:t>
            </a:r>
            <a:endParaRPr lang="en-US" sz="1400" dirty="0"/>
          </a:p>
        </p:txBody>
      </p:sp>
      <p:sp>
        <p:nvSpPr>
          <p:cNvPr id="7" name="Text 5"/>
          <p:cNvSpPr/>
          <p:nvPr/>
        </p:nvSpPr>
        <p:spPr>
          <a:xfrm>
            <a:off x="6355080" y="1325880"/>
            <a:ext cx="5285232" cy="292608"/>
          </a:xfrm>
          <a:prstGeom prst="rect">
            <a:avLst/>
          </a:prstGeom>
          <a:noFill/>
          <a:ln/>
        </p:spPr>
        <p:txBody>
          <a:bodyPr wrap="square" lIns="0" tIns="0" rIns="0" bIns="0" rtlCol="0" anchor="ctr"/>
          <a:lstStyle/>
          <a:p>
            <a:pPr marL="0" indent="0">
              <a:buNone/>
            </a:pPr>
            <a:r>
              <a:rPr lang="en-US" sz="1800" b="1" dirty="0">
                <a:solidFill>
                  <a:srgbClr val="CADCFC"/>
                </a:solidFill>
                <a:latin typeface="Cambria" pitchFamily="34" charset="0"/>
                <a:ea typeface="Cambria" pitchFamily="34" charset="-122"/>
                <a:cs typeface="Cambria" pitchFamily="34" charset="-120"/>
              </a:rPr>
              <a:t>Future work</a:t>
            </a:r>
            <a:endParaRPr lang="en-US" sz="1800" dirty="0"/>
          </a:p>
        </p:txBody>
      </p:sp>
      <p:sp>
        <p:nvSpPr>
          <p:cNvPr id="8" name="Shape 6"/>
          <p:cNvSpPr/>
          <p:nvPr/>
        </p:nvSpPr>
        <p:spPr>
          <a:xfrm>
            <a:off x="6355080" y="1755648"/>
            <a:ext cx="5285232" cy="1874520"/>
          </a:xfrm>
          <a:prstGeom prst="roundRect">
            <a:avLst>
              <a:gd name="adj" fmla="val 2439"/>
            </a:avLst>
          </a:prstGeom>
          <a:solidFill>
            <a:srgbClr val="2A3670"/>
          </a:solidFill>
          <a:ln w="12700">
            <a:solidFill>
              <a:srgbClr val="2A3670"/>
            </a:solidFill>
            <a:prstDash val="solid"/>
          </a:ln>
        </p:spPr>
        <p:txBody>
          <a:bodyPr/>
          <a:lstStyle/>
          <a:p>
            <a:endParaRPr lang="en-MY"/>
          </a:p>
        </p:txBody>
      </p:sp>
      <p:sp>
        <p:nvSpPr>
          <p:cNvPr id="9" name="Text 7"/>
          <p:cNvSpPr/>
          <p:nvPr/>
        </p:nvSpPr>
        <p:spPr>
          <a:xfrm>
            <a:off x="6601968" y="1920240"/>
            <a:ext cx="4791456" cy="329184"/>
          </a:xfrm>
          <a:prstGeom prst="rect">
            <a:avLst/>
          </a:prstGeom>
          <a:noFill/>
          <a:ln/>
        </p:spPr>
        <p:txBody>
          <a:bodyPr wrap="square" lIns="0" tIns="0" rIns="0" bIns="0" rtlCol="0" anchor="ctr"/>
          <a:lstStyle/>
          <a:p>
            <a:pPr marL="0" indent="0">
              <a:buNone/>
            </a:pPr>
            <a:r>
              <a:rPr lang="en-US" sz="1700" b="1" dirty="0">
                <a:solidFill>
                  <a:srgbClr val="F0C070"/>
                </a:solidFill>
                <a:latin typeface="Cambria" pitchFamily="34" charset="0"/>
                <a:ea typeface="Cambria" pitchFamily="34" charset="-122"/>
                <a:cs typeface="Cambria" pitchFamily="34" charset="-120"/>
              </a:rPr>
              <a:t>Implementing a smaller  DETR student</a:t>
            </a:r>
            <a:endParaRPr lang="en-US" sz="1700" dirty="0"/>
          </a:p>
        </p:txBody>
      </p:sp>
      <p:sp>
        <p:nvSpPr>
          <p:cNvPr id="10" name="Text 8"/>
          <p:cNvSpPr/>
          <p:nvPr/>
        </p:nvSpPr>
        <p:spPr>
          <a:xfrm>
            <a:off x="6601968" y="2322576"/>
            <a:ext cx="4791456" cy="1143000"/>
          </a:xfrm>
          <a:prstGeom prst="rect">
            <a:avLst/>
          </a:prstGeom>
          <a:noFill/>
          <a:ln/>
        </p:spPr>
        <p:txBody>
          <a:bodyPr wrap="square" lIns="0" tIns="0" rIns="0" bIns="0" rtlCol="0" anchor="t"/>
          <a:lstStyle/>
          <a:p>
            <a:pPr marL="0" indent="0">
              <a:buNone/>
            </a:pPr>
            <a:r>
              <a:rPr lang="en-US" sz="1350" dirty="0">
                <a:solidFill>
                  <a:srgbClr val="E8ECF7"/>
                </a:solidFill>
                <a:latin typeface="Calibri" pitchFamily="34" charset="0"/>
                <a:ea typeface="Calibri" pitchFamily="34" charset="-122"/>
                <a:cs typeface="Calibri" pitchFamily="34" charset="-120"/>
              </a:rPr>
              <a:t>The gain over zero-shot was limited because the backbone is already heavily pretrained. </a:t>
            </a:r>
          </a:p>
          <a:p>
            <a:pPr marL="0" indent="0">
              <a:buNone/>
            </a:pPr>
            <a:endParaRPr lang="en-US" sz="1350" dirty="0">
              <a:solidFill>
                <a:srgbClr val="E8ECF7"/>
              </a:solidFill>
              <a:latin typeface="Calibri" pitchFamily="34" charset="0"/>
              <a:ea typeface="Calibri" pitchFamily="34" charset="-122"/>
              <a:cs typeface="Calibri" pitchFamily="34" charset="-120"/>
            </a:endParaRPr>
          </a:p>
          <a:p>
            <a:pPr marL="0" indent="0">
              <a:buNone/>
            </a:pPr>
            <a:r>
              <a:rPr lang="en-US" sz="1350" dirty="0">
                <a:solidFill>
                  <a:srgbClr val="E8ECF7"/>
                </a:solidFill>
                <a:latin typeface="Calibri" pitchFamily="34" charset="0"/>
                <a:ea typeface="Calibri" pitchFamily="34" charset="-122"/>
                <a:cs typeface="Calibri" pitchFamily="34" charset="-120"/>
              </a:rPr>
              <a:t>A lighter student may benefit more from KD and improve deployment cost.</a:t>
            </a:r>
            <a:endParaRPr lang="en-US" sz="1350" dirty="0"/>
          </a:p>
        </p:txBody>
      </p:sp>
      <p:sp>
        <p:nvSpPr>
          <p:cNvPr id="11" name="Shape 9"/>
          <p:cNvSpPr/>
          <p:nvPr/>
        </p:nvSpPr>
        <p:spPr>
          <a:xfrm>
            <a:off x="6355080" y="3904488"/>
            <a:ext cx="5285232" cy="1874520"/>
          </a:xfrm>
          <a:prstGeom prst="roundRect">
            <a:avLst>
              <a:gd name="adj" fmla="val 2439"/>
            </a:avLst>
          </a:prstGeom>
          <a:solidFill>
            <a:srgbClr val="2A3670"/>
          </a:solidFill>
          <a:ln w="12700">
            <a:solidFill>
              <a:srgbClr val="2A3670"/>
            </a:solidFill>
            <a:prstDash val="solid"/>
          </a:ln>
        </p:spPr>
        <p:txBody>
          <a:bodyPr/>
          <a:lstStyle/>
          <a:p>
            <a:endParaRPr lang="en-MY"/>
          </a:p>
        </p:txBody>
      </p:sp>
      <p:sp>
        <p:nvSpPr>
          <p:cNvPr id="12" name="Text 10"/>
          <p:cNvSpPr/>
          <p:nvPr/>
        </p:nvSpPr>
        <p:spPr>
          <a:xfrm>
            <a:off x="6601968" y="4069080"/>
            <a:ext cx="4791456" cy="329184"/>
          </a:xfrm>
          <a:prstGeom prst="rect">
            <a:avLst/>
          </a:prstGeom>
          <a:noFill/>
          <a:ln/>
        </p:spPr>
        <p:txBody>
          <a:bodyPr wrap="square" lIns="0" tIns="0" rIns="0" bIns="0" rtlCol="0" anchor="ctr"/>
          <a:lstStyle/>
          <a:p>
            <a:pPr marL="0" indent="0">
              <a:buNone/>
            </a:pPr>
            <a:r>
              <a:rPr lang="en-US" sz="1700" b="1" dirty="0">
                <a:solidFill>
                  <a:srgbClr val="F0C070"/>
                </a:solidFill>
                <a:latin typeface="Cambria" pitchFamily="34" charset="0"/>
                <a:ea typeface="Cambria" pitchFamily="34" charset="-122"/>
                <a:cs typeface="Cambria" pitchFamily="34" charset="-120"/>
              </a:rPr>
              <a:t>A benchmark audit</a:t>
            </a:r>
            <a:endParaRPr lang="en-US" sz="1700" dirty="0"/>
          </a:p>
        </p:txBody>
      </p:sp>
      <p:sp>
        <p:nvSpPr>
          <p:cNvPr id="13" name="Text 11"/>
          <p:cNvSpPr/>
          <p:nvPr/>
        </p:nvSpPr>
        <p:spPr>
          <a:xfrm>
            <a:off x="6601968" y="4471416"/>
            <a:ext cx="4791456" cy="1143000"/>
          </a:xfrm>
          <a:prstGeom prst="rect">
            <a:avLst/>
          </a:prstGeom>
          <a:noFill/>
          <a:ln/>
        </p:spPr>
        <p:txBody>
          <a:bodyPr wrap="square" lIns="0" tIns="0" rIns="0" bIns="0" rtlCol="0" anchor="t"/>
          <a:lstStyle/>
          <a:p>
            <a:pPr marL="0" indent="0">
              <a:buNone/>
            </a:pPr>
            <a:r>
              <a:rPr lang="en-US" sz="1350" dirty="0">
                <a:solidFill>
                  <a:srgbClr val="E8ECF7"/>
                </a:solidFill>
                <a:latin typeface="Calibri" pitchFamily="34" charset="0"/>
                <a:ea typeface="Calibri" pitchFamily="34" charset="-122"/>
                <a:cs typeface="Calibri" pitchFamily="34" charset="-120"/>
              </a:rPr>
              <a:t>Validating the Ground Truth labels would quantify over-</a:t>
            </a:r>
            <a:r>
              <a:rPr lang="en-US" sz="1350" dirty="0" err="1">
                <a:solidFill>
                  <a:srgbClr val="E8ECF7"/>
                </a:solidFill>
                <a:latin typeface="Calibri" pitchFamily="34" charset="0"/>
                <a:ea typeface="Calibri" pitchFamily="34" charset="-122"/>
                <a:cs typeface="Calibri" pitchFamily="34" charset="-120"/>
              </a:rPr>
              <a:t>penalised</a:t>
            </a:r>
            <a:r>
              <a:rPr lang="en-US" sz="1350" dirty="0">
                <a:solidFill>
                  <a:srgbClr val="E8ECF7"/>
                </a:solidFill>
                <a:latin typeface="Calibri" pitchFamily="34" charset="0"/>
                <a:ea typeface="Calibri" pitchFamily="34" charset="-122"/>
                <a:cs typeface="Calibri" pitchFamily="34" charset="-120"/>
              </a:rPr>
              <a:t> accuracy scores.</a:t>
            </a:r>
          </a:p>
          <a:p>
            <a:pPr marL="0" indent="0">
              <a:buNone/>
            </a:pPr>
            <a:endParaRPr lang="en-US" sz="1350" dirty="0">
              <a:solidFill>
                <a:srgbClr val="E8ECF7"/>
              </a:solidFill>
              <a:latin typeface="Calibri" pitchFamily="34" charset="0"/>
              <a:ea typeface="Calibri" pitchFamily="34" charset="-122"/>
              <a:cs typeface="Calibri" pitchFamily="34" charset="-120"/>
            </a:endParaRPr>
          </a:p>
          <a:p>
            <a:pPr marL="0" indent="0">
              <a:buNone/>
            </a:pPr>
            <a:r>
              <a:rPr lang="en-US" sz="1350" dirty="0">
                <a:solidFill>
                  <a:srgbClr val="E8ECF7"/>
                </a:solidFill>
                <a:latin typeface="Calibri" pitchFamily="34" charset="0"/>
                <a:ea typeface="Calibri" pitchFamily="34" charset="-122"/>
                <a:cs typeface="Calibri" pitchFamily="34" charset="-120"/>
              </a:rPr>
              <a:t>Testing with other low-light datasets would validate generalization ability</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CBB67AD-D386-CED1-8185-74469B236D9C}"/>
              </a:ext>
            </a:extLst>
          </p:cNvPr>
          <p:cNvSpPr/>
          <p:nvPr/>
        </p:nvSpPr>
        <p:spPr>
          <a:xfrm>
            <a:off x="548640" y="3145536"/>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Appendix</a:t>
            </a:r>
            <a:endParaRPr lang="en-US" sz="3000" dirty="0"/>
          </a:p>
        </p:txBody>
      </p:sp>
    </p:spTree>
    <p:extLst>
      <p:ext uri="{BB962C8B-B14F-4D97-AF65-F5344CB8AC3E}">
        <p14:creationId xmlns:p14="http://schemas.microsoft.com/office/powerpoint/2010/main" val="264742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566928"/>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Preliminary phase: VLM prediction confidence separation</a:t>
            </a:r>
            <a:endParaRPr lang="en-US" sz="3000" dirty="0"/>
          </a:p>
        </p:txBody>
      </p:sp>
      <p:sp>
        <p:nvSpPr>
          <p:cNvPr id="3" name="Text 1"/>
          <p:cNvSpPr/>
          <p:nvPr/>
        </p:nvSpPr>
        <p:spPr>
          <a:xfrm>
            <a:off x="548640" y="877824"/>
            <a:ext cx="11094415" cy="310896"/>
          </a:xfrm>
          <a:prstGeom prst="rect">
            <a:avLst/>
          </a:prstGeom>
          <a:noFill/>
          <a:ln/>
        </p:spPr>
        <p:txBody>
          <a:bodyPr wrap="square" lIns="0" tIns="0" rIns="0" bIns="0" rtlCol="0" anchor="ctr"/>
          <a:lstStyle/>
          <a:p>
            <a:pPr marL="0" indent="0" algn="l">
              <a:buNone/>
            </a:pPr>
            <a:r>
              <a:rPr lang="en-US" sz="1400" dirty="0">
                <a:solidFill>
                  <a:srgbClr val="5C6472"/>
                </a:solidFill>
                <a:latin typeface="Calibri" pitchFamily="34" charset="0"/>
                <a:ea typeface="Calibri" pitchFamily="34" charset="-122"/>
                <a:cs typeface="Calibri" pitchFamily="34" charset="-120"/>
              </a:rPr>
              <a:t>Clearer separation indicates better distinction between correct and incorrect predictions and hence pseudo-label quality. YOLO-World separation is best.</a:t>
            </a:r>
            <a:endParaRPr lang="en-US" sz="1400" dirty="0"/>
          </a:p>
        </p:txBody>
      </p:sp>
      <p:pic>
        <p:nvPicPr>
          <p:cNvPr id="4" name="Image 0" descr="C:\Users\xiong\AppData\Local\Temp\claude\C--Users-xiong-Desktop-UM-MAI-2025-FYP-Part-2-Final-Code\2e03b641-b962-436d-91ad-a469587e5a9f\scratchpad\media\image3.jpg"/>
          <p:cNvPicPr>
            <a:picLocks noChangeAspect="1"/>
          </p:cNvPicPr>
          <p:nvPr/>
        </p:nvPicPr>
        <p:blipFill>
          <a:blip r:embed="rId3"/>
          <a:stretch>
            <a:fillRect/>
          </a:stretch>
        </p:blipFill>
        <p:spPr>
          <a:xfrm>
            <a:off x="1306241" y="1555256"/>
            <a:ext cx="9579518" cy="4424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4185</TotalTime>
  <Words>3174</Words>
  <Application>Microsoft Office PowerPoint</Application>
  <PresentationFormat>Widescreen</PresentationFormat>
  <Paragraphs>380</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Low-Light Object Detection via Decoupled VLM Pseudo-Labelling</dc:title>
  <dc:subject>PptxGenJS Presentation</dc:subject>
  <dc:creator>Xiong Law</dc:creator>
  <cp:lastModifiedBy>LAW ZHI XIONG</cp:lastModifiedBy>
  <cp:revision>11</cp:revision>
  <dcterms:created xsi:type="dcterms:W3CDTF">2026-08-23T05:08:54Z</dcterms:created>
  <dcterms:modified xsi:type="dcterms:W3CDTF">2026-09-04T06:33:02Z</dcterms:modified>
</cp:coreProperties>
</file>